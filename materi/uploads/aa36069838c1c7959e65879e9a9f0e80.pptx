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Egyptian Slate Bold" charset="1" panose="02060804040202020204"/>
      <p:regular r:id="rId17"/>
    </p:embeddedFont>
    <p:embeddedFont>
      <p:font typeface="TT Interphases Bold" charset="1" panose="02000803060000020004"/>
      <p:regular r:id="rId18"/>
    </p:embeddedFont>
    <p:embeddedFont>
      <p:font typeface="TT Interphases" charset="1" panose="02000503020000020004"/>
      <p:regular r:id="rId19"/>
    </p:embeddedFont>
    <p:embeddedFont>
      <p:font typeface="Inter Bold" charset="1" panose="02000503000000020004"/>
      <p:regular r:id="rId20"/>
    </p:embeddedFont>
    <p:embeddedFont>
      <p:font typeface="Inter" charset="1" panose="02000503000000020004"/>
      <p:regular r:id="rId21"/>
    </p:embeddedFont>
    <p:embeddedFont>
      <p:font typeface="Egyptian Slate" charset="1" panose="020605040402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1.png" Type="http://schemas.openxmlformats.org/officeDocument/2006/relationships/image"/><Relationship Id="rId15" Target="../media/image22.png" Type="http://schemas.openxmlformats.org/officeDocument/2006/relationships/image"/><Relationship Id="rId16" Target="../media/image23.png" Type="http://schemas.openxmlformats.org/officeDocument/2006/relationships/image"/><Relationship Id="rId17" Target="../media/image24.png" Type="http://schemas.openxmlformats.org/officeDocument/2006/relationships/image"/><Relationship Id="rId18" Target="../media/image25.png" Type="http://schemas.openxmlformats.org/officeDocument/2006/relationships/image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svg" Type="http://schemas.openxmlformats.org/officeDocument/2006/relationships/image"/><Relationship Id="rId11" Target="../media/image33.png" Type="http://schemas.openxmlformats.org/officeDocument/2006/relationships/imag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14" Target="../media/image36.png" Type="http://schemas.openxmlformats.org/officeDocument/2006/relationships/image"/><Relationship Id="rId15" Target="../media/image37.svg" Type="http://schemas.openxmlformats.org/officeDocument/2006/relationships/image"/><Relationship Id="rId2" Target="../media/image26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svg" Type="http://schemas.openxmlformats.org/officeDocument/2006/relationships/image"/><Relationship Id="rId2" Target="../media/image38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3.png" Type="http://schemas.openxmlformats.org/officeDocument/2006/relationships/image"/><Relationship Id="rId8" Target="../media/image44.sv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jpeg" Type="http://schemas.openxmlformats.org/officeDocument/2006/relationships/image"/><Relationship Id="rId3" Target="../media/image48.png" Type="http://schemas.openxmlformats.org/officeDocument/2006/relationships/image"/><Relationship Id="rId4" Target="../media/image49.svg" Type="http://schemas.openxmlformats.org/officeDocument/2006/relationships/image"/><Relationship Id="rId5" Target="../media/image50.png" Type="http://schemas.openxmlformats.org/officeDocument/2006/relationships/image"/><Relationship Id="rId6" Target="../media/image5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jpeg" Type="http://schemas.openxmlformats.org/officeDocument/2006/relationships/image"/><Relationship Id="rId3" Target="../media/image48.png" Type="http://schemas.openxmlformats.org/officeDocument/2006/relationships/image"/><Relationship Id="rId4" Target="../media/image49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52.png" Type="http://schemas.openxmlformats.org/officeDocument/2006/relationships/image"/><Relationship Id="rId8" Target="../media/image5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svg" Type="http://schemas.openxmlformats.org/officeDocument/2006/relationships/image"/><Relationship Id="rId11" Target="../media/image60.png" Type="http://schemas.openxmlformats.org/officeDocument/2006/relationships/image"/><Relationship Id="rId12" Target="../media/image61.svg" Type="http://schemas.openxmlformats.org/officeDocument/2006/relationships/image"/><Relationship Id="rId13" Target="../media/image43.png" Type="http://schemas.openxmlformats.org/officeDocument/2006/relationships/image"/><Relationship Id="rId14" Target="../media/image44.svg" Type="http://schemas.openxmlformats.org/officeDocument/2006/relationships/image"/><Relationship Id="rId15" Target="../media/image62.png" Type="http://schemas.openxmlformats.org/officeDocument/2006/relationships/image"/><Relationship Id="rId16" Target="../media/image63.svg" Type="http://schemas.openxmlformats.org/officeDocument/2006/relationships/image"/><Relationship Id="rId17" Target="../media/image64.jpeg" Type="http://schemas.openxmlformats.org/officeDocument/2006/relationships/image"/><Relationship Id="rId18" Target="../media/image65.jpeg" Type="http://schemas.openxmlformats.org/officeDocument/2006/relationships/image"/><Relationship Id="rId2" Target="../media/image5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7.png" Type="http://schemas.openxmlformats.org/officeDocument/2006/relationships/image"/><Relationship Id="rId6" Target="../media/image55.svg" Type="http://schemas.openxmlformats.org/officeDocument/2006/relationships/image"/><Relationship Id="rId7" Target="../media/image56.png" Type="http://schemas.openxmlformats.org/officeDocument/2006/relationships/image"/><Relationship Id="rId8" Target="../media/image57.sv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8.png" Type="http://schemas.openxmlformats.org/officeDocument/2006/relationships/image"/><Relationship Id="rId6" Target="../media/image59.svg" Type="http://schemas.openxmlformats.org/officeDocument/2006/relationships/image"/><Relationship Id="rId7" Target="../media/image6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67.png" Type="http://schemas.openxmlformats.org/officeDocument/2006/relationships/image"/><Relationship Id="rId5" Target="../embeddings/oleObject1.bin" Type="http://schemas.openxmlformats.org/officeDocument/2006/relationships/oleObject"/><Relationship Id="rId6" Target="../media/image11.png" Type="http://schemas.openxmlformats.org/officeDocument/2006/relationships/image"/><Relationship Id="rId7" Target="../media/image68.png" Type="http://schemas.openxmlformats.org/officeDocument/2006/relationships/image"/><Relationship Id="rId8" Target="../embeddings/oleObject2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7.png" Type="http://schemas.openxmlformats.org/officeDocument/2006/relationships/image"/><Relationship Id="rId11" Target="../media/image78.svg" Type="http://schemas.openxmlformats.org/officeDocument/2006/relationships/image"/><Relationship Id="rId12" Target="../media/image79.png" Type="http://schemas.openxmlformats.org/officeDocument/2006/relationships/image"/><Relationship Id="rId13" Target="../media/image80.svg" Type="http://schemas.openxmlformats.org/officeDocument/2006/relationships/image"/><Relationship Id="rId2" Target="../media/image70.png" Type="http://schemas.openxmlformats.org/officeDocument/2006/relationships/image"/><Relationship Id="rId3" Target="../media/image56.png" Type="http://schemas.openxmlformats.org/officeDocument/2006/relationships/image"/><Relationship Id="rId4" Target="../media/image71.svg" Type="http://schemas.openxmlformats.org/officeDocument/2006/relationships/image"/><Relationship Id="rId5" Target="../media/image72.jpeg" Type="http://schemas.openxmlformats.org/officeDocument/2006/relationships/image"/><Relationship Id="rId6" Target="../media/image73.png" Type="http://schemas.openxmlformats.org/officeDocument/2006/relationships/image"/><Relationship Id="rId7" Target="../media/image74.svg" Type="http://schemas.openxmlformats.org/officeDocument/2006/relationships/image"/><Relationship Id="rId8" Target="../media/image75.png" Type="http://schemas.openxmlformats.org/officeDocument/2006/relationships/image"/><Relationship Id="rId9" Target="../media/image7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2748132" y="3707969"/>
            <a:ext cx="6112246" cy="7045817"/>
          </a:xfrm>
          <a:custGeom>
            <a:avLst/>
            <a:gdLst/>
            <a:ahLst/>
            <a:cxnLst/>
            <a:rect r="r" b="b" t="t" l="l"/>
            <a:pathLst>
              <a:path h="7045817" w="6112246">
                <a:moveTo>
                  <a:pt x="0" y="0"/>
                </a:moveTo>
                <a:lnTo>
                  <a:pt x="6112246" y="0"/>
                </a:lnTo>
                <a:lnTo>
                  <a:pt x="6112246" y="7045816"/>
                </a:lnTo>
                <a:lnTo>
                  <a:pt x="0" y="70458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-338033" y="-362135"/>
            <a:ext cx="4741916" cy="5466186"/>
          </a:xfrm>
          <a:custGeom>
            <a:avLst/>
            <a:gdLst/>
            <a:ahLst/>
            <a:cxnLst/>
            <a:rect r="r" b="b" t="t" l="l"/>
            <a:pathLst>
              <a:path h="5466186" w="4741916">
                <a:moveTo>
                  <a:pt x="0" y="0"/>
                </a:moveTo>
                <a:lnTo>
                  <a:pt x="4741916" y="0"/>
                </a:lnTo>
                <a:lnTo>
                  <a:pt x="4741916" y="5466186"/>
                </a:lnTo>
                <a:lnTo>
                  <a:pt x="0" y="54661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353838" y="752599"/>
            <a:ext cx="905462" cy="1114414"/>
          </a:xfrm>
          <a:custGeom>
            <a:avLst/>
            <a:gdLst/>
            <a:ahLst/>
            <a:cxnLst/>
            <a:rect r="r" b="b" t="t" l="l"/>
            <a:pathLst>
              <a:path h="1114414" w="905462">
                <a:moveTo>
                  <a:pt x="0" y="0"/>
                </a:moveTo>
                <a:lnTo>
                  <a:pt x="905462" y="0"/>
                </a:lnTo>
                <a:lnTo>
                  <a:pt x="905462" y="1114415"/>
                </a:lnTo>
                <a:lnTo>
                  <a:pt x="0" y="11144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10800000">
            <a:off x="17387279" y="-180466"/>
            <a:ext cx="1023940" cy="933066"/>
          </a:xfrm>
          <a:custGeom>
            <a:avLst/>
            <a:gdLst/>
            <a:ahLst/>
            <a:cxnLst/>
            <a:rect r="r" b="b" t="t" l="l"/>
            <a:pathLst>
              <a:path h="933066" w="1023940">
                <a:moveTo>
                  <a:pt x="0" y="0"/>
                </a:moveTo>
                <a:lnTo>
                  <a:pt x="1023941" y="0"/>
                </a:lnTo>
                <a:lnTo>
                  <a:pt x="1023941" y="933065"/>
                </a:lnTo>
                <a:lnTo>
                  <a:pt x="0" y="9330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99649" y="3248476"/>
            <a:ext cx="11620849" cy="264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66"/>
              </a:lnSpc>
            </a:pPr>
            <a:r>
              <a:rPr lang="en-US" b="true" sz="5615">
                <a:solidFill>
                  <a:srgbClr val="000000"/>
                </a:solidFill>
                <a:latin typeface="Egyptian Slate Bold"/>
                <a:ea typeface="Egyptian Slate Bold"/>
                <a:cs typeface="Egyptian Slate Bold"/>
                <a:sym typeface="Egyptian Slate Bold"/>
              </a:rPr>
              <a:t>Prediksi Produksi Durian Lokal Menggunakan Algoritma Regresi Linear Pada Data Historis Tahunan Di Kelurahan Foramadiahi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2339251">
            <a:off x="-2313060" y="8088722"/>
            <a:ext cx="4626120" cy="2208972"/>
          </a:xfrm>
          <a:custGeom>
            <a:avLst/>
            <a:gdLst/>
            <a:ahLst/>
            <a:cxnLst/>
            <a:rect r="r" b="b" t="t" l="l"/>
            <a:pathLst>
              <a:path h="2208972" w="4626120">
                <a:moveTo>
                  <a:pt x="0" y="0"/>
                </a:moveTo>
                <a:lnTo>
                  <a:pt x="4626120" y="0"/>
                </a:lnTo>
                <a:lnTo>
                  <a:pt x="4626120" y="2208972"/>
                </a:lnTo>
                <a:lnTo>
                  <a:pt x="0" y="22089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10924" y="7677818"/>
            <a:ext cx="6463814" cy="2128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3"/>
              </a:lnSpc>
            </a:pPr>
            <a:r>
              <a:rPr lang="en-US" sz="2431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by MusangKing</a:t>
            </a:r>
          </a:p>
          <a:p>
            <a:pPr algn="l">
              <a:lnSpc>
                <a:spcPts val="3403"/>
              </a:lnSpc>
            </a:pPr>
            <a:r>
              <a:rPr lang="en-US" sz="243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Ridho Alfarbi Rumbia (07352411031)</a:t>
            </a:r>
          </a:p>
          <a:p>
            <a:pPr algn="l">
              <a:lnSpc>
                <a:spcPts val="3403"/>
              </a:lnSpc>
            </a:pPr>
            <a:r>
              <a:rPr lang="en-US" sz="243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Nanda Hirawan Sukarim (07352411003)</a:t>
            </a:r>
          </a:p>
          <a:p>
            <a:pPr algn="l">
              <a:lnSpc>
                <a:spcPts val="3403"/>
              </a:lnSpc>
            </a:pPr>
            <a:r>
              <a:rPr lang="en-US" sz="243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Arini Irwan (07352411002)</a:t>
            </a:r>
          </a:p>
          <a:p>
            <a:pPr algn="l" marL="0" indent="0" lvl="0">
              <a:lnSpc>
                <a:spcPts val="3403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235283" y="6192773"/>
            <a:ext cx="9817434" cy="414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27"/>
              </a:lnSpc>
              <a:spcBef>
                <a:spcPct val="0"/>
              </a:spcBef>
            </a:pPr>
            <a:r>
              <a:rPr lang="en-US" b="true" sz="2448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Dosen Pengampu: Dr. Ir. Assaf Arief S.T., M.Eng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571102" y="3577701"/>
            <a:ext cx="8130819" cy="8200214"/>
          </a:xfrm>
          <a:custGeom>
            <a:avLst/>
            <a:gdLst/>
            <a:ahLst/>
            <a:cxnLst/>
            <a:rect r="r" b="b" t="t" l="l"/>
            <a:pathLst>
              <a:path h="8200214" w="8130819">
                <a:moveTo>
                  <a:pt x="0" y="0"/>
                </a:moveTo>
                <a:lnTo>
                  <a:pt x="8130819" y="0"/>
                </a:lnTo>
                <a:lnTo>
                  <a:pt x="8130819" y="8200214"/>
                </a:lnTo>
                <a:lnTo>
                  <a:pt x="0" y="82002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-6866358" y="-393054"/>
            <a:ext cx="6701850" cy="8286676"/>
          </a:xfrm>
          <a:custGeom>
            <a:avLst/>
            <a:gdLst/>
            <a:ahLst/>
            <a:cxnLst/>
            <a:rect r="r" b="b" t="t" l="l"/>
            <a:pathLst>
              <a:path h="8286676" w="6701850">
                <a:moveTo>
                  <a:pt x="0" y="0"/>
                </a:moveTo>
                <a:lnTo>
                  <a:pt x="6701850" y="0"/>
                </a:lnTo>
                <a:lnTo>
                  <a:pt x="6701850" y="8286676"/>
                </a:lnTo>
                <a:lnTo>
                  <a:pt x="0" y="82866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5400000">
            <a:off x="17296478" y="9373484"/>
            <a:ext cx="1196719" cy="966351"/>
          </a:xfrm>
          <a:custGeom>
            <a:avLst/>
            <a:gdLst/>
            <a:ahLst/>
            <a:cxnLst/>
            <a:rect r="r" b="b" t="t" l="l"/>
            <a:pathLst>
              <a:path h="966351" w="1196719">
                <a:moveTo>
                  <a:pt x="0" y="0"/>
                </a:moveTo>
                <a:lnTo>
                  <a:pt x="1196720" y="0"/>
                </a:lnTo>
                <a:lnTo>
                  <a:pt x="1196720" y="966351"/>
                </a:lnTo>
                <a:lnTo>
                  <a:pt x="0" y="9663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494185" y="216581"/>
            <a:ext cx="267441" cy="632997"/>
          </a:xfrm>
          <a:custGeom>
            <a:avLst/>
            <a:gdLst/>
            <a:ahLst/>
            <a:cxnLst/>
            <a:rect r="r" b="b" t="t" l="l"/>
            <a:pathLst>
              <a:path h="632997" w="267441">
                <a:moveTo>
                  <a:pt x="0" y="0"/>
                </a:moveTo>
                <a:lnTo>
                  <a:pt x="267441" y="0"/>
                </a:lnTo>
                <a:lnTo>
                  <a:pt x="267441" y="632997"/>
                </a:lnTo>
                <a:lnTo>
                  <a:pt x="0" y="6329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18503">
            <a:off x="12882248" y="6943120"/>
            <a:ext cx="6594119" cy="4962890"/>
          </a:xfrm>
          <a:custGeom>
            <a:avLst/>
            <a:gdLst/>
            <a:ahLst/>
            <a:cxnLst/>
            <a:rect r="r" b="b" t="t" l="l"/>
            <a:pathLst>
              <a:path h="4962890" w="6594119">
                <a:moveTo>
                  <a:pt x="0" y="0"/>
                </a:moveTo>
                <a:lnTo>
                  <a:pt x="6594119" y="0"/>
                </a:lnTo>
                <a:lnTo>
                  <a:pt x="6594119" y="4962890"/>
                </a:lnTo>
                <a:lnTo>
                  <a:pt x="0" y="49628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1122929"/>
            <a:ext cx="5693227" cy="1551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82"/>
              </a:lnSpc>
            </a:pPr>
            <a:r>
              <a:rPr lang="en-US" b="true" sz="6394">
                <a:solidFill>
                  <a:srgbClr val="000000"/>
                </a:solidFill>
                <a:latin typeface="Egyptian Slate Bold"/>
                <a:ea typeface="Egyptian Slate Bold"/>
                <a:cs typeface="Egyptian Slate Bold"/>
                <a:sym typeface="Egyptian Slate Bold"/>
              </a:rPr>
              <a:t>Latar Belakang Masalah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369704" y="6745981"/>
            <a:ext cx="7537714" cy="1618519"/>
            <a:chOff x="0" y="0"/>
            <a:chExt cx="2705986" cy="5810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05986" cy="581037"/>
            </a:xfrm>
            <a:custGeom>
              <a:avLst/>
              <a:gdLst/>
              <a:ahLst/>
              <a:cxnLst/>
              <a:rect r="r" b="b" t="t" l="l"/>
              <a:pathLst>
                <a:path h="581037" w="2705986">
                  <a:moveTo>
                    <a:pt x="0" y="0"/>
                  </a:moveTo>
                  <a:lnTo>
                    <a:pt x="2705986" y="0"/>
                  </a:lnTo>
                  <a:lnTo>
                    <a:pt x="2705986" y="581037"/>
                  </a:lnTo>
                  <a:lnTo>
                    <a:pt x="0" y="58103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05986" cy="6191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888230" y="5850082"/>
            <a:ext cx="6255770" cy="1329163"/>
          </a:xfrm>
          <a:custGeom>
            <a:avLst/>
            <a:gdLst/>
            <a:ahLst/>
            <a:cxnLst/>
            <a:rect r="r" b="b" t="t" l="l"/>
            <a:pathLst>
              <a:path h="1329163" w="6255770">
                <a:moveTo>
                  <a:pt x="0" y="0"/>
                </a:moveTo>
                <a:lnTo>
                  <a:pt x="6255770" y="0"/>
                </a:lnTo>
                <a:lnTo>
                  <a:pt x="6255770" y="1329163"/>
                </a:lnTo>
                <a:lnTo>
                  <a:pt x="0" y="13291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68861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3" id="13"/>
          <p:cNvGrpSpPr/>
          <p:nvPr/>
        </p:nvGrpSpPr>
        <p:grpSpPr>
          <a:xfrm rot="0">
            <a:off x="2369704" y="4934479"/>
            <a:ext cx="7537714" cy="1618519"/>
            <a:chOff x="0" y="0"/>
            <a:chExt cx="2705986" cy="5810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05986" cy="581037"/>
            </a:xfrm>
            <a:custGeom>
              <a:avLst/>
              <a:gdLst/>
              <a:ahLst/>
              <a:cxnLst/>
              <a:rect r="r" b="b" t="t" l="l"/>
              <a:pathLst>
                <a:path h="581037" w="2705986">
                  <a:moveTo>
                    <a:pt x="0" y="0"/>
                  </a:moveTo>
                  <a:lnTo>
                    <a:pt x="2705986" y="0"/>
                  </a:lnTo>
                  <a:lnTo>
                    <a:pt x="2705986" y="581037"/>
                  </a:lnTo>
                  <a:lnTo>
                    <a:pt x="0" y="58103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705986" cy="6191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54994" y="4934479"/>
            <a:ext cx="1883368" cy="1618519"/>
            <a:chOff x="0" y="0"/>
            <a:chExt cx="812800" cy="698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200025" cap="sq">
              <a:solidFill>
                <a:srgbClr val="1DA95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54994" y="6745981"/>
            <a:ext cx="1883368" cy="1618519"/>
            <a:chOff x="0" y="0"/>
            <a:chExt cx="812800" cy="698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200025" cap="sq">
              <a:solidFill>
                <a:srgbClr val="1DA95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2681099" y="3906862"/>
            <a:ext cx="6151506" cy="1537751"/>
          </a:xfrm>
          <a:custGeom>
            <a:avLst/>
            <a:gdLst/>
            <a:ahLst/>
            <a:cxnLst/>
            <a:rect r="r" b="b" t="t" l="l"/>
            <a:pathLst>
              <a:path h="1537751" w="6151506">
                <a:moveTo>
                  <a:pt x="0" y="0"/>
                </a:moveTo>
                <a:lnTo>
                  <a:pt x="6151506" y="0"/>
                </a:lnTo>
                <a:lnTo>
                  <a:pt x="6151506" y="1537750"/>
                </a:lnTo>
                <a:lnTo>
                  <a:pt x="0" y="15377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300032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2369704" y="3125698"/>
            <a:ext cx="7537714" cy="1618519"/>
            <a:chOff x="0" y="0"/>
            <a:chExt cx="2705986" cy="58103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705986" cy="581037"/>
            </a:xfrm>
            <a:custGeom>
              <a:avLst/>
              <a:gdLst/>
              <a:ahLst/>
              <a:cxnLst/>
              <a:rect r="r" b="b" t="t" l="l"/>
              <a:pathLst>
                <a:path h="581037" w="2705986">
                  <a:moveTo>
                    <a:pt x="0" y="0"/>
                  </a:moveTo>
                  <a:lnTo>
                    <a:pt x="2705986" y="0"/>
                  </a:lnTo>
                  <a:lnTo>
                    <a:pt x="2705986" y="581037"/>
                  </a:lnTo>
                  <a:lnTo>
                    <a:pt x="0" y="58103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705986" cy="6191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54994" y="3125698"/>
            <a:ext cx="1883368" cy="1618519"/>
            <a:chOff x="0" y="0"/>
            <a:chExt cx="812800" cy="6985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w="200025" cap="sq">
              <a:solidFill>
                <a:srgbClr val="1DA95F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879541" y="7284208"/>
            <a:ext cx="598427" cy="593277"/>
          </a:xfrm>
          <a:custGeom>
            <a:avLst/>
            <a:gdLst/>
            <a:ahLst/>
            <a:cxnLst/>
            <a:rect r="r" b="b" t="t" l="l"/>
            <a:pathLst>
              <a:path h="593277" w="598427">
                <a:moveTo>
                  <a:pt x="0" y="0"/>
                </a:moveTo>
                <a:lnTo>
                  <a:pt x="598426" y="0"/>
                </a:lnTo>
                <a:lnTo>
                  <a:pt x="598426" y="593276"/>
                </a:lnTo>
                <a:lnTo>
                  <a:pt x="0" y="59327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793668" y="3584680"/>
            <a:ext cx="788154" cy="716610"/>
          </a:xfrm>
          <a:custGeom>
            <a:avLst/>
            <a:gdLst/>
            <a:ahLst/>
            <a:cxnLst/>
            <a:rect r="r" b="b" t="t" l="l"/>
            <a:pathLst>
              <a:path h="716610" w="788154">
                <a:moveTo>
                  <a:pt x="0" y="0"/>
                </a:moveTo>
                <a:lnTo>
                  <a:pt x="788154" y="0"/>
                </a:lnTo>
                <a:lnTo>
                  <a:pt x="788154" y="716611"/>
                </a:lnTo>
                <a:lnTo>
                  <a:pt x="0" y="71661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1793668" y="5401440"/>
            <a:ext cx="770171" cy="684596"/>
          </a:xfrm>
          <a:custGeom>
            <a:avLst/>
            <a:gdLst/>
            <a:ahLst/>
            <a:cxnLst/>
            <a:rect r="r" b="b" t="t" l="l"/>
            <a:pathLst>
              <a:path h="684596" w="770171">
                <a:moveTo>
                  <a:pt x="0" y="0"/>
                </a:moveTo>
                <a:lnTo>
                  <a:pt x="770171" y="0"/>
                </a:lnTo>
                <a:lnTo>
                  <a:pt x="770171" y="684596"/>
                </a:lnTo>
                <a:lnTo>
                  <a:pt x="0" y="68459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3448905" y="7103045"/>
            <a:ext cx="5379312" cy="879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551"/>
              </a:lnSpc>
            </a:pPr>
            <a:r>
              <a:rPr lang="en-US" sz="236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Petani kesulitan merencanakan panen, distribusi, dan strategi pemasaran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-9533113">
            <a:off x="15492265" y="-642890"/>
            <a:ext cx="4012416" cy="2036301"/>
          </a:xfrm>
          <a:custGeom>
            <a:avLst/>
            <a:gdLst/>
            <a:ahLst/>
            <a:cxnLst/>
            <a:rect r="r" b="b" t="t" l="l"/>
            <a:pathLst>
              <a:path h="2036301" w="4012416">
                <a:moveTo>
                  <a:pt x="0" y="0"/>
                </a:moveTo>
                <a:lnTo>
                  <a:pt x="4012416" y="0"/>
                </a:lnTo>
                <a:lnTo>
                  <a:pt x="4012416" y="2036302"/>
                </a:lnTo>
                <a:lnTo>
                  <a:pt x="0" y="203630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alphaModFix amt="6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9581106" y="58163"/>
            <a:ext cx="8551099" cy="10520572"/>
          </a:xfrm>
          <a:prstGeom prst="rect">
            <a:avLst/>
          </a:prstGeom>
        </p:spPr>
      </p:pic>
      <p:sp>
        <p:nvSpPr>
          <p:cNvPr name="TextBox 35" id="35"/>
          <p:cNvSpPr txBox="true"/>
          <p:nvPr/>
        </p:nvSpPr>
        <p:spPr>
          <a:xfrm rot="0">
            <a:off x="3410738" y="3421888"/>
            <a:ext cx="5694243" cy="879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551"/>
              </a:lnSpc>
            </a:pPr>
            <a:r>
              <a:rPr lang="en-US" sz="236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</a:t>
            </a:r>
            <a:r>
              <a:rPr lang="en-US" sz="236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elurahan Foramadiahi merupakan salah satu penghasil durian lokal di Kota Ternate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410738" y="5489288"/>
            <a:ext cx="6061328" cy="43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551"/>
              </a:lnSpc>
            </a:pPr>
            <a:r>
              <a:rPr lang="en-US" sz="236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</a:t>
            </a:r>
            <a:r>
              <a:rPr lang="en-US" sz="236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roduksi mengalami fluktuasi yang signifikan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812322">
            <a:off x="-1107113" y="5781664"/>
            <a:ext cx="3392951" cy="6953272"/>
            <a:chOff x="0" y="0"/>
            <a:chExt cx="893617" cy="18313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93617" cy="1831314"/>
            </a:xfrm>
            <a:custGeom>
              <a:avLst/>
              <a:gdLst/>
              <a:ahLst/>
              <a:cxnLst/>
              <a:rect r="r" b="b" t="t" l="l"/>
              <a:pathLst>
                <a:path h="1831314" w="893617">
                  <a:moveTo>
                    <a:pt x="0" y="0"/>
                  </a:moveTo>
                  <a:lnTo>
                    <a:pt x="893617" y="0"/>
                  </a:lnTo>
                  <a:lnTo>
                    <a:pt x="893617" y="1831314"/>
                  </a:lnTo>
                  <a:lnTo>
                    <a:pt x="0" y="1831314"/>
                  </a:lnTo>
                  <a:close/>
                </a:path>
              </a:pathLst>
            </a:custGeom>
            <a:solidFill>
              <a:srgbClr val="1DA95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93617" cy="1869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987974" y="4605110"/>
            <a:ext cx="6092671" cy="7724465"/>
          </a:xfrm>
          <a:custGeom>
            <a:avLst/>
            <a:gdLst/>
            <a:ahLst/>
            <a:cxnLst/>
            <a:rect r="r" b="b" t="t" l="l"/>
            <a:pathLst>
              <a:path h="7724465" w="6092671">
                <a:moveTo>
                  <a:pt x="0" y="0"/>
                </a:moveTo>
                <a:lnTo>
                  <a:pt x="6092671" y="0"/>
                </a:lnTo>
                <a:lnTo>
                  <a:pt x="6092671" y="7724465"/>
                </a:lnTo>
                <a:lnTo>
                  <a:pt x="0" y="77244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6688754" y="2501172"/>
            <a:ext cx="418904" cy="455950"/>
          </a:xfrm>
          <a:custGeom>
            <a:avLst/>
            <a:gdLst/>
            <a:ahLst/>
            <a:cxnLst/>
            <a:rect r="r" b="b" t="t" l="l"/>
            <a:pathLst>
              <a:path h="455950" w="418904">
                <a:moveTo>
                  <a:pt x="0" y="0"/>
                </a:moveTo>
                <a:lnTo>
                  <a:pt x="418904" y="0"/>
                </a:lnTo>
                <a:lnTo>
                  <a:pt x="418904" y="455950"/>
                </a:lnTo>
                <a:lnTo>
                  <a:pt x="0" y="4559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688754" y="5302154"/>
            <a:ext cx="418904" cy="455950"/>
          </a:xfrm>
          <a:custGeom>
            <a:avLst/>
            <a:gdLst/>
            <a:ahLst/>
            <a:cxnLst/>
            <a:rect r="r" b="b" t="t" l="l"/>
            <a:pathLst>
              <a:path h="455950" w="418904">
                <a:moveTo>
                  <a:pt x="0" y="0"/>
                </a:moveTo>
                <a:lnTo>
                  <a:pt x="418904" y="0"/>
                </a:lnTo>
                <a:lnTo>
                  <a:pt x="418904" y="455950"/>
                </a:lnTo>
                <a:lnTo>
                  <a:pt x="0" y="4559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5400000">
            <a:off x="16960318" y="-793762"/>
            <a:ext cx="6112246" cy="7045817"/>
          </a:xfrm>
          <a:custGeom>
            <a:avLst/>
            <a:gdLst/>
            <a:ahLst/>
            <a:cxnLst/>
            <a:rect r="r" b="b" t="t" l="l"/>
            <a:pathLst>
              <a:path h="7045817" w="6112246">
                <a:moveTo>
                  <a:pt x="0" y="7045817"/>
                </a:moveTo>
                <a:lnTo>
                  <a:pt x="6112246" y="7045817"/>
                </a:lnTo>
                <a:lnTo>
                  <a:pt x="6112246" y="0"/>
                </a:lnTo>
                <a:lnTo>
                  <a:pt x="0" y="0"/>
                </a:lnTo>
                <a:lnTo>
                  <a:pt x="0" y="7045817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594882">
            <a:off x="16843779" y="241720"/>
            <a:ext cx="4454726" cy="445472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EEF7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594882">
            <a:off x="16559846" y="23270"/>
            <a:ext cx="4454726" cy="445472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DA95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594882">
            <a:off x="14122180" y="8103903"/>
            <a:ext cx="4454726" cy="445472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EEF7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594882">
            <a:off x="15987373" y="8241972"/>
            <a:ext cx="4454726" cy="445472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DA95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-5400000">
            <a:off x="15217584" y="1826262"/>
            <a:ext cx="7419137" cy="8053337"/>
          </a:xfrm>
          <a:custGeom>
            <a:avLst/>
            <a:gdLst/>
            <a:ahLst/>
            <a:cxnLst/>
            <a:rect r="r" b="b" t="t" l="l"/>
            <a:pathLst>
              <a:path h="8053337" w="7419137">
                <a:moveTo>
                  <a:pt x="0" y="0"/>
                </a:moveTo>
                <a:lnTo>
                  <a:pt x="7419137" y="0"/>
                </a:lnTo>
                <a:lnTo>
                  <a:pt x="7419137" y="8053338"/>
                </a:lnTo>
                <a:lnTo>
                  <a:pt x="0" y="80533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72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3" id="23"/>
          <p:cNvGrpSpPr/>
          <p:nvPr/>
        </p:nvGrpSpPr>
        <p:grpSpPr>
          <a:xfrm rot="0">
            <a:off x="15200616" y="2143363"/>
            <a:ext cx="8124314" cy="6981832"/>
            <a:chOff x="0" y="0"/>
            <a:chExt cx="812800" cy="698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353516" y="2329103"/>
            <a:ext cx="7147273" cy="6142188"/>
            <a:chOff x="0" y="0"/>
            <a:chExt cx="812800" cy="6985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11"/>
              <a:stretch>
                <a:fillRect l="-3129" t="0" r="-3129" b="0"/>
              </a:stretch>
            </a:blip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6688754" y="7700881"/>
            <a:ext cx="418904" cy="455950"/>
          </a:xfrm>
          <a:custGeom>
            <a:avLst/>
            <a:gdLst/>
            <a:ahLst/>
            <a:cxnLst/>
            <a:rect r="r" b="b" t="t" l="l"/>
            <a:pathLst>
              <a:path h="455950" w="418904">
                <a:moveTo>
                  <a:pt x="0" y="0"/>
                </a:moveTo>
                <a:lnTo>
                  <a:pt x="418904" y="0"/>
                </a:lnTo>
                <a:lnTo>
                  <a:pt x="418904" y="455950"/>
                </a:lnTo>
                <a:lnTo>
                  <a:pt x="0" y="4559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5400000">
            <a:off x="17491964" y="9551151"/>
            <a:ext cx="914728" cy="921641"/>
          </a:xfrm>
          <a:custGeom>
            <a:avLst/>
            <a:gdLst/>
            <a:ahLst/>
            <a:cxnLst/>
            <a:rect r="r" b="b" t="t" l="l"/>
            <a:pathLst>
              <a:path h="921641" w="914728">
                <a:moveTo>
                  <a:pt x="0" y="0"/>
                </a:moveTo>
                <a:lnTo>
                  <a:pt x="914729" y="0"/>
                </a:lnTo>
                <a:lnTo>
                  <a:pt x="914729" y="921640"/>
                </a:lnTo>
                <a:lnTo>
                  <a:pt x="0" y="92164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6615826">
            <a:off x="-1137880" y="-1291623"/>
            <a:ext cx="2971535" cy="3032178"/>
          </a:xfrm>
          <a:custGeom>
            <a:avLst/>
            <a:gdLst/>
            <a:ahLst/>
            <a:cxnLst/>
            <a:rect r="r" b="b" t="t" l="l"/>
            <a:pathLst>
              <a:path h="3032178" w="2971535">
                <a:moveTo>
                  <a:pt x="0" y="0"/>
                </a:moveTo>
                <a:lnTo>
                  <a:pt x="2971535" y="0"/>
                </a:lnTo>
                <a:lnTo>
                  <a:pt x="2971535" y="3032178"/>
                </a:lnTo>
                <a:lnTo>
                  <a:pt x="0" y="30321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6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1" id="31"/>
          <p:cNvSpPr txBox="true"/>
          <p:nvPr/>
        </p:nvSpPr>
        <p:spPr>
          <a:xfrm rot="0">
            <a:off x="1535370" y="4090238"/>
            <a:ext cx="4286608" cy="2131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90"/>
              </a:lnSpc>
            </a:pPr>
            <a:r>
              <a:rPr lang="en-US" b="true" sz="8793">
                <a:solidFill>
                  <a:srgbClr val="000000"/>
                </a:solidFill>
                <a:latin typeface="Egyptian Slate Bold"/>
                <a:ea typeface="Egyptian Slate Bold"/>
                <a:cs typeface="Egyptian Slate Bold"/>
                <a:sym typeface="Egyptian Slate Bold"/>
              </a:rPr>
              <a:t>State Of The Art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393978" y="1915986"/>
            <a:ext cx="6794089" cy="1819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37"/>
              </a:lnSpc>
              <a:spcBef>
                <a:spcPct val="0"/>
              </a:spcBef>
            </a:pPr>
            <a:r>
              <a:rPr lang="en-US" b="true" sz="2598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Penerapan Regresi</a:t>
            </a:r>
            <a:r>
              <a:rPr lang="en-US" b="true" sz="2598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Linear dalam Pertanian:</a:t>
            </a:r>
            <a:r>
              <a:rPr lang="en-US" sz="259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Regresi linear terbukti efektif memprediksi hasil panen berbagai komoditas pertanian (Maulana dkk, 2023)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536283" y="4836567"/>
            <a:ext cx="6794089" cy="227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37"/>
              </a:lnSpc>
              <a:spcBef>
                <a:spcPct val="0"/>
              </a:spcBef>
            </a:pPr>
            <a:r>
              <a:rPr lang="en-US" b="true" sz="2598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Akur</a:t>
            </a:r>
            <a:r>
              <a:rPr lang="en-US" b="true" sz="2598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asi Tinggi:</a:t>
            </a:r>
            <a:r>
              <a:rPr lang="en-US" sz="259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Akurasi hingga 94,40% dalam memprediksi produksi pertanian (Ikhsanuddin dkk, 2025)</a:t>
            </a:r>
          </a:p>
          <a:p>
            <a:pPr algn="just" marL="0" indent="0" lvl="0">
              <a:lnSpc>
                <a:spcPts val="3637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637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7536283" y="7257003"/>
            <a:ext cx="6794089" cy="1362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37"/>
              </a:lnSpc>
              <a:spcBef>
                <a:spcPct val="0"/>
              </a:spcBef>
            </a:pPr>
            <a:r>
              <a:rPr lang="en-US" b="true" sz="2598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Keunggulan</a:t>
            </a:r>
            <a:r>
              <a:rPr lang="en-US" b="true" sz="2598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Metode:</a:t>
            </a:r>
            <a:r>
              <a:rPr lang="en-US" sz="259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Dipilih karena sederhana, mudah diinterpretasi, dan efisien secara komputasi (Diyanti dkk, 2023)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709863" y="6527870"/>
            <a:ext cx="5983375" cy="6416488"/>
          </a:xfrm>
          <a:custGeom>
            <a:avLst/>
            <a:gdLst/>
            <a:ahLst/>
            <a:cxnLst/>
            <a:rect r="r" b="b" t="t" l="l"/>
            <a:pathLst>
              <a:path h="6416488" w="5983375">
                <a:moveTo>
                  <a:pt x="0" y="0"/>
                </a:moveTo>
                <a:lnTo>
                  <a:pt x="5983375" y="0"/>
                </a:lnTo>
                <a:lnTo>
                  <a:pt x="5983375" y="6416488"/>
                </a:lnTo>
                <a:lnTo>
                  <a:pt x="0" y="6416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927278" y="5717531"/>
            <a:ext cx="6346624" cy="6337822"/>
          </a:xfrm>
          <a:custGeom>
            <a:avLst/>
            <a:gdLst/>
            <a:ahLst/>
            <a:cxnLst/>
            <a:rect r="r" b="b" t="t" l="l"/>
            <a:pathLst>
              <a:path h="6337822" w="6346624">
                <a:moveTo>
                  <a:pt x="0" y="0"/>
                </a:moveTo>
                <a:lnTo>
                  <a:pt x="6346624" y="0"/>
                </a:lnTo>
                <a:lnTo>
                  <a:pt x="6346624" y="6337822"/>
                </a:lnTo>
                <a:lnTo>
                  <a:pt x="0" y="63378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68462" y="9370534"/>
            <a:ext cx="1266222" cy="1145931"/>
          </a:xfrm>
          <a:custGeom>
            <a:avLst/>
            <a:gdLst/>
            <a:ahLst/>
            <a:cxnLst/>
            <a:rect r="r" b="b" t="t" l="l"/>
            <a:pathLst>
              <a:path h="1145931" w="1266222">
                <a:moveTo>
                  <a:pt x="0" y="0"/>
                </a:moveTo>
                <a:lnTo>
                  <a:pt x="1266222" y="0"/>
                </a:lnTo>
                <a:lnTo>
                  <a:pt x="1266222" y="1145931"/>
                </a:lnTo>
                <a:lnTo>
                  <a:pt x="0" y="11459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7371534" y="-393331"/>
            <a:ext cx="1266222" cy="1145931"/>
          </a:xfrm>
          <a:custGeom>
            <a:avLst/>
            <a:gdLst/>
            <a:ahLst/>
            <a:cxnLst/>
            <a:rect r="r" b="b" t="t" l="l"/>
            <a:pathLst>
              <a:path h="1145931" w="1266222">
                <a:moveTo>
                  <a:pt x="0" y="0"/>
                </a:moveTo>
                <a:lnTo>
                  <a:pt x="1266222" y="0"/>
                </a:lnTo>
                <a:lnTo>
                  <a:pt x="1266222" y="1145930"/>
                </a:lnTo>
                <a:lnTo>
                  <a:pt x="0" y="11459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757467" y="8539701"/>
            <a:ext cx="870458" cy="511394"/>
          </a:xfrm>
          <a:custGeom>
            <a:avLst/>
            <a:gdLst/>
            <a:ahLst/>
            <a:cxnLst/>
            <a:rect r="r" b="b" t="t" l="l"/>
            <a:pathLst>
              <a:path h="511394" w="870458">
                <a:moveTo>
                  <a:pt x="0" y="0"/>
                </a:moveTo>
                <a:lnTo>
                  <a:pt x="870458" y="0"/>
                </a:lnTo>
                <a:lnTo>
                  <a:pt x="870458" y="511394"/>
                </a:lnTo>
                <a:lnTo>
                  <a:pt x="0" y="5113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4516145">
            <a:off x="15836596" y="9401398"/>
            <a:ext cx="4336098" cy="3544760"/>
          </a:xfrm>
          <a:custGeom>
            <a:avLst/>
            <a:gdLst/>
            <a:ahLst/>
            <a:cxnLst/>
            <a:rect r="r" b="b" t="t" l="l"/>
            <a:pathLst>
              <a:path h="3544760" w="4336098">
                <a:moveTo>
                  <a:pt x="0" y="0"/>
                </a:moveTo>
                <a:lnTo>
                  <a:pt x="4336098" y="0"/>
                </a:lnTo>
                <a:lnTo>
                  <a:pt x="4336098" y="3544760"/>
                </a:lnTo>
                <a:lnTo>
                  <a:pt x="0" y="35447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281824" y="2841852"/>
          <a:ext cx="8935694" cy="6136127"/>
        </p:xfrm>
        <a:graphic>
          <a:graphicData uri="http://schemas.openxmlformats.org/drawingml/2006/table">
            <a:tbl>
              <a:tblPr/>
              <a:tblGrid>
                <a:gridCol w="1954720"/>
                <a:gridCol w="1983279"/>
                <a:gridCol w="1661048"/>
                <a:gridCol w="3336648"/>
              </a:tblGrid>
              <a:tr h="11498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 spc="89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R²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F6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 spc="89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Penelitian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F6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 spc="89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F6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 spc="89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Hasil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F69C"/>
                    </a:solidFill>
                  </a:tcPr>
                </a:tc>
              </a:tr>
              <a:tr h="12465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spc="8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94,40%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spc="8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Ikhsanuddin dkk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spc="8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Besar, terstruktur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spc="8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Prediksi hasil pertanian akurat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465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spc="8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99,10%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spc="8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Maulana dkk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spc="8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 tahun lengkap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spc="8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Prediksi produksi jagung Jawa Barat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465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spc="8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98,00%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spc="8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Alfin dkk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spc="8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11 tahun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spc="89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Prediksi produksi bawang merah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465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 spc="89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91,72%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C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 spc="89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Penelitian ini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C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 spc="89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10 titik terbatas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C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 spc="89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Prediksi Produksi Durian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C7"/>
                    </a:solidFill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1281824" y="647700"/>
            <a:ext cx="14457407" cy="1874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07"/>
              </a:lnSpc>
            </a:pPr>
            <a:r>
              <a:rPr lang="en-US" b="true" sz="7725">
                <a:solidFill>
                  <a:srgbClr val="FFFFFF"/>
                </a:solidFill>
                <a:latin typeface="Egyptian Slate Bold"/>
                <a:ea typeface="Egyptian Slate Bold"/>
                <a:cs typeface="Egyptian Slate Bold"/>
                <a:sym typeface="Egyptian Slate Bold"/>
              </a:rPr>
              <a:t>Penelitian Terdahulu dan Gap Analisis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33023" y="2747565"/>
            <a:ext cx="7232766" cy="1380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8039" indent="-284020" lvl="1">
              <a:lnSpc>
                <a:spcPts val="3683"/>
              </a:lnSpc>
              <a:buFont typeface="Arial"/>
              <a:buChar char="•"/>
            </a:pPr>
            <a:r>
              <a:rPr lang="en-US" sz="2631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Penelitian terdahulu dilakukan di daratan dengan data lengkap dan banyak variabel input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33023" y="4520739"/>
            <a:ext cx="7232766" cy="914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8039" indent="-284020" lvl="1">
              <a:lnSpc>
                <a:spcPts val="3683"/>
              </a:lnSpc>
              <a:buFont typeface="Arial"/>
              <a:buChar char="•"/>
            </a:pPr>
            <a:r>
              <a:rPr lang="en-US" sz="2631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</a:t>
            </a:r>
            <a:r>
              <a:rPr lang="en-US" sz="2631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elum ada kajian prediksi produksi durian di wilayah kepulauan dengan keterbatasan data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33023" y="5825511"/>
            <a:ext cx="7232766" cy="1380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8039" indent="-284020" lvl="1">
              <a:lnSpc>
                <a:spcPts val="3683"/>
              </a:lnSpc>
              <a:buFont typeface="Arial"/>
              <a:buChar char="•"/>
            </a:pPr>
            <a:r>
              <a:rPr lang="en-US" sz="2631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Penelitian seb</a:t>
            </a:r>
            <a:r>
              <a:rPr lang="en-US" sz="2631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elumnya menggunakan variabel agronomi lengkap (luas lahan, curah hujan, jumlah pohon)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33023" y="7597008"/>
            <a:ext cx="7232766" cy="1380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8039" indent="-284020" lvl="1">
              <a:lnSpc>
                <a:spcPts val="3683"/>
              </a:lnSpc>
              <a:buFont typeface="Arial"/>
              <a:buChar char="•"/>
            </a:pPr>
            <a:r>
              <a:rPr lang="en-US" sz="2631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Kondisi di Foramadiahi ha</a:t>
            </a:r>
            <a:r>
              <a:rPr lang="en-US" sz="2631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nya memungkinkan data produksi triwulanan tanpa variabel pendukung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96988" y="171450"/>
            <a:ext cx="10494023" cy="888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39"/>
              </a:lnSpc>
            </a:pPr>
            <a:r>
              <a:rPr lang="en-US" sz="6999">
                <a:solidFill>
                  <a:srgbClr val="000000"/>
                </a:solidFill>
                <a:latin typeface="Egyptian Slate"/>
                <a:ea typeface="Egyptian Slate"/>
                <a:cs typeface="Egyptian Slate"/>
                <a:sym typeface="Egyptian Slate"/>
              </a:rPr>
              <a:t>Metodologi Penelitian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13381697" y="4833969"/>
            <a:ext cx="5984269" cy="6603331"/>
          </a:xfrm>
          <a:custGeom>
            <a:avLst/>
            <a:gdLst/>
            <a:ahLst/>
            <a:cxnLst/>
            <a:rect r="r" b="b" t="t" l="l"/>
            <a:pathLst>
              <a:path h="6603331" w="5984269">
                <a:moveTo>
                  <a:pt x="0" y="0"/>
                </a:moveTo>
                <a:lnTo>
                  <a:pt x="5984268" y="0"/>
                </a:lnTo>
                <a:lnTo>
                  <a:pt x="5984268" y="6603331"/>
                </a:lnTo>
                <a:lnTo>
                  <a:pt x="0" y="66033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1077965" y="-1150300"/>
            <a:ext cx="5984269" cy="6603331"/>
          </a:xfrm>
          <a:custGeom>
            <a:avLst/>
            <a:gdLst/>
            <a:ahLst/>
            <a:cxnLst/>
            <a:rect r="r" b="b" t="t" l="l"/>
            <a:pathLst>
              <a:path h="6603331" w="5984269">
                <a:moveTo>
                  <a:pt x="0" y="0"/>
                </a:moveTo>
                <a:lnTo>
                  <a:pt x="5984268" y="0"/>
                </a:lnTo>
                <a:lnTo>
                  <a:pt x="5984268" y="6603331"/>
                </a:lnTo>
                <a:lnTo>
                  <a:pt x="0" y="66033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3816" y="1028700"/>
            <a:ext cx="7796884" cy="9268213"/>
          </a:xfrm>
          <a:custGeom>
            <a:avLst/>
            <a:gdLst/>
            <a:ahLst/>
            <a:cxnLst/>
            <a:rect r="r" b="b" t="t" l="l"/>
            <a:pathLst>
              <a:path h="9268213" w="7796884">
                <a:moveTo>
                  <a:pt x="0" y="0"/>
                </a:moveTo>
                <a:lnTo>
                  <a:pt x="7796884" y="0"/>
                </a:lnTo>
                <a:lnTo>
                  <a:pt x="7796884" y="9268213"/>
                </a:lnTo>
                <a:lnTo>
                  <a:pt x="0" y="92682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0589" y="991264"/>
            <a:ext cx="4613148" cy="9343085"/>
          </a:xfrm>
          <a:custGeom>
            <a:avLst/>
            <a:gdLst/>
            <a:ahLst/>
            <a:cxnLst/>
            <a:rect r="r" b="b" t="t" l="l"/>
            <a:pathLst>
              <a:path h="9343085" w="4613148">
                <a:moveTo>
                  <a:pt x="0" y="0"/>
                </a:moveTo>
                <a:lnTo>
                  <a:pt x="4613149" y="0"/>
                </a:lnTo>
                <a:lnTo>
                  <a:pt x="4613149" y="9343085"/>
                </a:lnTo>
                <a:lnTo>
                  <a:pt x="0" y="93430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65408" y="395466"/>
            <a:ext cx="8681209" cy="76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61"/>
              </a:lnSpc>
            </a:pPr>
            <a:r>
              <a:rPr lang="en-US" sz="6154">
                <a:solidFill>
                  <a:srgbClr val="000000"/>
                </a:solidFill>
                <a:latin typeface="Egyptian Slate"/>
                <a:ea typeface="Egyptian Slate"/>
                <a:cs typeface="Egyptian Slate"/>
                <a:sym typeface="Egyptian Slate"/>
              </a:rPr>
              <a:t>Alur Arsitektur Sistem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13398975" y="4330349"/>
            <a:ext cx="5984269" cy="6603331"/>
          </a:xfrm>
          <a:custGeom>
            <a:avLst/>
            <a:gdLst/>
            <a:ahLst/>
            <a:cxnLst/>
            <a:rect r="r" b="b" t="t" l="l"/>
            <a:pathLst>
              <a:path h="6603331" w="5984269">
                <a:moveTo>
                  <a:pt x="0" y="0"/>
                </a:moveTo>
                <a:lnTo>
                  <a:pt x="5984269" y="0"/>
                </a:lnTo>
                <a:lnTo>
                  <a:pt x="5984269" y="6603331"/>
                </a:lnTo>
                <a:lnTo>
                  <a:pt x="0" y="66033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895709" y="-912151"/>
            <a:ext cx="5984269" cy="6603331"/>
          </a:xfrm>
          <a:custGeom>
            <a:avLst/>
            <a:gdLst/>
            <a:ahLst/>
            <a:cxnLst/>
            <a:rect r="r" b="b" t="t" l="l"/>
            <a:pathLst>
              <a:path h="6603331" w="5984269">
                <a:moveTo>
                  <a:pt x="0" y="0"/>
                </a:moveTo>
                <a:lnTo>
                  <a:pt x="5984268" y="0"/>
                </a:lnTo>
                <a:lnTo>
                  <a:pt x="5984268" y="6603331"/>
                </a:lnTo>
                <a:lnTo>
                  <a:pt x="0" y="66033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646206" y="9075522"/>
            <a:ext cx="267441" cy="632997"/>
          </a:xfrm>
          <a:custGeom>
            <a:avLst/>
            <a:gdLst/>
            <a:ahLst/>
            <a:cxnLst/>
            <a:rect r="r" b="b" t="t" l="l"/>
            <a:pathLst>
              <a:path h="632997" w="267441">
                <a:moveTo>
                  <a:pt x="0" y="0"/>
                </a:moveTo>
                <a:lnTo>
                  <a:pt x="267441" y="0"/>
                </a:lnTo>
                <a:lnTo>
                  <a:pt x="267441" y="632997"/>
                </a:lnTo>
                <a:lnTo>
                  <a:pt x="0" y="6329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64852" y="1300606"/>
            <a:ext cx="4415812" cy="8974060"/>
          </a:xfrm>
          <a:custGeom>
            <a:avLst/>
            <a:gdLst/>
            <a:ahLst/>
            <a:cxnLst/>
            <a:rect r="r" b="b" t="t" l="l"/>
            <a:pathLst>
              <a:path h="8974060" w="4415812">
                <a:moveTo>
                  <a:pt x="0" y="0"/>
                </a:moveTo>
                <a:lnTo>
                  <a:pt x="4415812" y="0"/>
                </a:lnTo>
                <a:lnTo>
                  <a:pt x="4415812" y="8974060"/>
                </a:lnTo>
                <a:lnTo>
                  <a:pt x="0" y="89740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52" t="0" r="-552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895407" y="1300606"/>
            <a:ext cx="4636916" cy="8748898"/>
          </a:xfrm>
          <a:custGeom>
            <a:avLst/>
            <a:gdLst/>
            <a:ahLst/>
            <a:cxnLst/>
            <a:rect r="r" b="b" t="t" l="l"/>
            <a:pathLst>
              <a:path h="8748898" w="4636916">
                <a:moveTo>
                  <a:pt x="0" y="0"/>
                </a:moveTo>
                <a:lnTo>
                  <a:pt x="4636916" y="0"/>
                </a:lnTo>
                <a:lnTo>
                  <a:pt x="4636916" y="8748899"/>
                </a:lnTo>
                <a:lnTo>
                  <a:pt x="0" y="874889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4107788" y="-533638"/>
            <a:ext cx="6112246" cy="7045817"/>
          </a:xfrm>
          <a:custGeom>
            <a:avLst/>
            <a:gdLst/>
            <a:ahLst/>
            <a:cxnLst/>
            <a:rect r="r" b="b" t="t" l="l"/>
            <a:pathLst>
              <a:path h="7045817" w="6112246">
                <a:moveTo>
                  <a:pt x="0" y="0"/>
                </a:moveTo>
                <a:lnTo>
                  <a:pt x="6112246" y="0"/>
                </a:lnTo>
                <a:lnTo>
                  <a:pt x="6112246" y="7045817"/>
                </a:lnTo>
                <a:lnTo>
                  <a:pt x="0" y="70458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02440" y="6632788"/>
            <a:ext cx="4512808" cy="2577942"/>
          </a:xfrm>
          <a:custGeom>
            <a:avLst/>
            <a:gdLst/>
            <a:ahLst/>
            <a:cxnLst/>
            <a:rect r="r" b="b" t="t" l="l"/>
            <a:pathLst>
              <a:path h="2577942" w="4512808">
                <a:moveTo>
                  <a:pt x="0" y="0"/>
                </a:moveTo>
                <a:lnTo>
                  <a:pt x="4512808" y="0"/>
                </a:lnTo>
                <a:lnTo>
                  <a:pt x="4512808" y="2577941"/>
                </a:lnTo>
                <a:lnTo>
                  <a:pt x="0" y="25779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721970" y="1872032"/>
            <a:ext cx="9223197" cy="9223197"/>
          </a:xfrm>
          <a:custGeom>
            <a:avLst/>
            <a:gdLst/>
            <a:ahLst/>
            <a:cxnLst/>
            <a:rect r="r" b="b" t="t" l="l"/>
            <a:pathLst>
              <a:path h="9223197" w="9223197">
                <a:moveTo>
                  <a:pt x="0" y="0"/>
                </a:moveTo>
                <a:lnTo>
                  <a:pt x="9223197" y="0"/>
                </a:lnTo>
                <a:lnTo>
                  <a:pt x="9223197" y="9223196"/>
                </a:lnTo>
                <a:lnTo>
                  <a:pt x="0" y="92231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136144" y="2360802"/>
            <a:ext cx="6570948" cy="7282444"/>
            <a:chOff x="0" y="0"/>
            <a:chExt cx="2048671" cy="22704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48671" cy="2270499"/>
            </a:xfrm>
            <a:custGeom>
              <a:avLst/>
              <a:gdLst/>
              <a:ahLst/>
              <a:cxnLst/>
              <a:rect r="r" b="b" t="t" l="l"/>
              <a:pathLst>
                <a:path h="2270499" w="2048671">
                  <a:moveTo>
                    <a:pt x="0" y="0"/>
                  </a:moveTo>
                  <a:lnTo>
                    <a:pt x="2048671" y="0"/>
                  </a:lnTo>
                  <a:lnTo>
                    <a:pt x="2048671" y="2270499"/>
                  </a:lnTo>
                  <a:lnTo>
                    <a:pt x="0" y="2270499"/>
                  </a:lnTo>
                  <a:close/>
                </a:path>
              </a:pathLst>
            </a:custGeom>
            <a:solidFill>
              <a:srgbClr val="E8E8E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48671" cy="2308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13146754" y="3944757"/>
            <a:ext cx="6112246" cy="7045817"/>
          </a:xfrm>
          <a:custGeom>
            <a:avLst/>
            <a:gdLst/>
            <a:ahLst/>
            <a:cxnLst/>
            <a:rect r="r" b="b" t="t" l="l"/>
            <a:pathLst>
              <a:path h="7045817" w="6112246">
                <a:moveTo>
                  <a:pt x="0" y="0"/>
                </a:moveTo>
                <a:lnTo>
                  <a:pt x="6112246" y="0"/>
                </a:lnTo>
                <a:lnTo>
                  <a:pt x="6112246" y="7045817"/>
                </a:lnTo>
                <a:lnTo>
                  <a:pt x="0" y="70458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367452" y="1872032"/>
            <a:ext cx="9223197" cy="9223197"/>
          </a:xfrm>
          <a:custGeom>
            <a:avLst/>
            <a:gdLst/>
            <a:ahLst/>
            <a:cxnLst/>
            <a:rect r="r" b="b" t="t" l="l"/>
            <a:pathLst>
              <a:path h="9223197" w="9223197">
                <a:moveTo>
                  <a:pt x="0" y="0"/>
                </a:moveTo>
                <a:lnTo>
                  <a:pt x="9223197" y="0"/>
                </a:lnTo>
                <a:lnTo>
                  <a:pt x="9223197" y="9223196"/>
                </a:lnTo>
                <a:lnTo>
                  <a:pt x="0" y="92231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125038" y="2360802"/>
            <a:ext cx="6263804" cy="7282444"/>
            <a:chOff x="0" y="0"/>
            <a:chExt cx="1952910" cy="22704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52910" cy="2270499"/>
            </a:xfrm>
            <a:custGeom>
              <a:avLst/>
              <a:gdLst/>
              <a:ahLst/>
              <a:cxnLst/>
              <a:rect r="r" b="b" t="t" l="l"/>
              <a:pathLst>
                <a:path h="2270499" w="1952910">
                  <a:moveTo>
                    <a:pt x="0" y="0"/>
                  </a:moveTo>
                  <a:lnTo>
                    <a:pt x="1952910" y="0"/>
                  </a:lnTo>
                  <a:lnTo>
                    <a:pt x="1952910" y="2270499"/>
                  </a:lnTo>
                  <a:lnTo>
                    <a:pt x="0" y="2270499"/>
                  </a:lnTo>
                  <a:close/>
                </a:path>
              </a:pathLst>
            </a:custGeom>
            <a:solidFill>
              <a:srgbClr val="E8E8E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952910" cy="2308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5400000">
            <a:off x="-90559" y="-111309"/>
            <a:ext cx="768073" cy="856985"/>
          </a:xfrm>
          <a:custGeom>
            <a:avLst/>
            <a:gdLst/>
            <a:ahLst/>
            <a:cxnLst/>
            <a:rect r="r" b="b" t="t" l="l"/>
            <a:pathLst>
              <a:path h="856985" w="768073">
                <a:moveTo>
                  <a:pt x="0" y="0"/>
                </a:moveTo>
                <a:lnTo>
                  <a:pt x="768073" y="0"/>
                </a:lnTo>
                <a:lnTo>
                  <a:pt x="768073" y="856985"/>
                </a:lnTo>
                <a:lnTo>
                  <a:pt x="0" y="85698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true" rot="0">
            <a:off x="16824071" y="-453068"/>
            <a:ext cx="2687246" cy="2813870"/>
          </a:xfrm>
          <a:custGeom>
            <a:avLst/>
            <a:gdLst/>
            <a:ahLst/>
            <a:cxnLst/>
            <a:rect r="r" b="b" t="t" l="l"/>
            <a:pathLst>
              <a:path h="2813870" w="2687246">
                <a:moveTo>
                  <a:pt x="2687246" y="2813870"/>
                </a:moveTo>
                <a:lnTo>
                  <a:pt x="0" y="2813870"/>
                </a:lnTo>
                <a:lnTo>
                  <a:pt x="0" y="0"/>
                </a:lnTo>
                <a:lnTo>
                  <a:pt x="2687246" y="0"/>
                </a:lnTo>
                <a:lnTo>
                  <a:pt x="2687246" y="2813870"/>
                </a:lnTo>
                <a:close/>
              </a:path>
            </a:pathLst>
          </a:custGeom>
          <a:blipFill>
            <a:blip r:embed="rId11">
              <a:alphaModFix amt="6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6388842" y="773003"/>
            <a:ext cx="870458" cy="511394"/>
          </a:xfrm>
          <a:custGeom>
            <a:avLst/>
            <a:gdLst/>
            <a:ahLst/>
            <a:cxnLst/>
            <a:rect r="r" b="b" t="t" l="l"/>
            <a:pathLst>
              <a:path h="511394" w="870458">
                <a:moveTo>
                  <a:pt x="0" y="0"/>
                </a:moveTo>
                <a:lnTo>
                  <a:pt x="870458" y="0"/>
                </a:lnTo>
                <a:lnTo>
                  <a:pt x="870458" y="511394"/>
                </a:lnTo>
                <a:lnTo>
                  <a:pt x="0" y="51139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30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1583798" y="8384098"/>
            <a:ext cx="2927771" cy="3355611"/>
          </a:xfrm>
          <a:custGeom>
            <a:avLst/>
            <a:gdLst/>
            <a:ahLst/>
            <a:cxnLst/>
            <a:rect r="r" b="b" t="t" l="l"/>
            <a:pathLst>
              <a:path h="3355611" w="2927771">
                <a:moveTo>
                  <a:pt x="0" y="0"/>
                </a:moveTo>
                <a:lnTo>
                  <a:pt x="2927771" y="0"/>
                </a:lnTo>
                <a:lnTo>
                  <a:pt x="2927771" y="3355611"/>
                </a:lnTo>
                <a:lnTo>
                  <a:pt x="0" y="335561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6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-148487" y="10012394"/>
            <a:ext cx="870458" cy="511394"/>
          </a:xfrm>
          <a:custGeom>
            <a:avLst/>
            <a:gdLst/>
            <a:ahLst/>
            <a:cxnLst/>
            <a:rect r="r" b="b" t="t" l="l"/>
            <a:pathLst>
              <a:path h="511394" w="870458">
                <a:moveTo>
                  <a:pt x="0" y="0"/>
                </a:moveTo>
                <a:lnTo>
                  <a:pt x="870457" y="0"/>
                </a:lnTo>
                <a:lnTo>
                  <a:pt x="870457" y="511394"/>
                </a:lnTo>
                <a:lnTo>
                  <a:pt x="0" y="51139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30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471244" y="2901342"/>
            <a:ext cx="5896209" cy="6356958"/>
          </a:xfrm>
          <a:custGeom>
            <a:avLst/>
            <a:gdLst/>
            <a:ahLst/>
            <a:cxnLst/>
            <a:rect r="r" b="b" t="t" l="l"/>
            <a:pathLst>
              <a:path h="6356958" w="5896209">
                <a:moveTo>
                  <a:pt x="0" y="0"/>
                </a:moveTo>
                <a:lnTo>
                  <a:pt x="5896208" y="0"/>
                </a:lnTo>
                <a:lnTo>
                  <a:pt x="589620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-11834" r="0" b="-11834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362748" y="2989270"/>
            <a:ext cx="5840129" cy="6221459"/>
          </a:xfrm>
          <a:custGeom>
            <a:avLst/>
            <a:gdLst/>
            <a:ahLst/>
            <a:cxnLst/>
            <a:rect r="r" b="b" t="t" l="l"/>
            <a:pathLst>
              <a:path h="6221459" w="5840129">
                <a:moveTo>
                  <a:pt x="0" y="0"/>
                </a:moveTo>
                <a:lnTo>
                  <a:pt x="5840129" y="0"/>
                </a:lnTo>
                <a:lnTo>
                  <a:pt x="5840129" y="6221459"/>
                </a:lnTo>
                <a:lnTo>
                  <a:pt x="0" y="622145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-24108" r="-4112" b="-6199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632376" y="925403"/>
            <a:ext cx="13023248" cy="769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6"/>
              </a:lnSpc>
            </a:pPr>
            <a:r>
              <a:rPr lang="en-US" sz="6094">
                <a:solidFill>
                  <a:srgbClr val="000000"/>
                </a:solidFill>
                <a:latin typeface="Egyptian Slate"/>
                <a:ea typeface="Egyptian Slate"/>
                <a:cs typeface="Egyptian Slate"/>
                <a:sym typeface="Egyptian Slate"/>
              </a:rPr>
              <a:t>Dokumentasi Pengambilan Data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4107788" y="-533638"/>
            <a:ext cx="6112246" cy="7045817"/>
          </a:xfrm>
          <a:custGeom>
            <a:avLst/>
            <a:gdLst/>
            <a:ahLst/>
            <a:cxnLst/>
            <a:rect r="r" b="b" t="t" l="l"/>
            <a:pathLst>
              <a:path h="7045817" w="6112246">
                <a:moveTo>
                  <a:pt x="0" y="0"/>
                </a:moveTo>
                <a:lnTo>
                  <a:pt x="6112246" y="0"/>
                </a:lnTo>
                <a:lnTo>
                  <a:pt x="6112246" y="7045817"/>
                </a:lnTo>
                <a:lnTo>
                  <a:pt x="0" y="70458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-90559" y="-111309"/>
            <a:ext cx="768073" cy="856985"/>
          </a:xfrm>
          <a:custGeom>
            <a:avLst/>
            <a:gdLst/>
            <a:ahLst/>
            <a:cxnLst/>
            <a:rect r="r" b="b" t="t" l="l"/>
            <a:pathLst>
              <a:path h="856985" w="768073">
                <a:moveTo>
                  <a:pt x="0" y="0"/>
                </a:moveTo>
                <a:lnTo>
                  <a:pt x="768073" y="0"/>
                </a:lnTo>
                <a:lnTo>
                  <a:pt x="768073" y="856985"/>
                </a:lnTo>
                <a:lnTo>
                  <a:pt x="0" y="8569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3767948" y="3944757"/>
            <a:ext cx="6112246" cy="7045817"/>
          </a:xfrm>
          <a:custGeom>
            <a:avLst/>
            <a:gdLst/>
            <a:ahLst/>
            <a:cxnLst/>
            <a:rect r="r" b="b" t="t" l="l"/>
            <a:pathLst>
              <a:path h="7045817" w="6112246">
                <a:moveTo>
                  <a:pt x="0" y="0"/>
                </a:moveTo>
                <a:lnTo>
                  <a:pt x="6112246" y="0"/>
                </a:lnTo>
                <a:lnTo>
                  <a:pt x="6112246" y="7045817"/>
                </a:lnTo>
                <a:lnTo>
                  <a:pt x="0" y="70458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665553" y="1780371"/>
            <a:ext cx="12956895" cy="7502725"/>
          </a:xfrm>
          <a:custGeom>
            <a:avLst/>
            <a:gdLst/>
            <a:ahLst/>
            <a:cxnLst/>
            <a:rect r="r" b="b" t="t" l="l"/>
            <a:pathLst>
              <a:path h="7502725" w="12956895">
                <a:moveTo>
                  <a:pt x="0" y="0"/>
                </a:moveTo>
                <a:lnTo>
                  <a:pt x="12956894" y="0"/>
                </a:lnTo>
                <a:lnTo>
                  <a:pt x="12956894" y="7502725"/>
                </a:lnTo>
                <a:lnTo>
                  <a:pt x="0" y="75027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92" t="0" r="0" b="-3932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781404" y="9537936"/>
            <a:ext cx="5217106" cy="43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551"/>
              </a:lnSpc>
            </a:pPr>
            <a:r>
              <a:rPr lang="en-US" sz="236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Sumber: Dinas Pertanian Kota Ternate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03395" y="649541"/>
            <a:ext cx="8681209" cy="797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45"/>
              </a:lnSpc>
            </a:pPr>
            <a:r>
              <a:rPr lang="en-US" sz="6354">
                <a:solidFill>
                  <a:srgbClr val="000000"/>
                </a:solidFill>
                <a:latin typeface="Egyptian Slate"/>
                <a:ea typeface="Egyptian Slate"/>
                <a:cs typeface="Egyptian Slate"/>
                <a:sym typeface="Egyptian Slate"/>
              </a:rPr>
              <a:t>Dataset Yang Digunakan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571102" y="3577701"/>
            <a:ext cx="8130819" cy="8200214"/>
          </a:xfrm>
          <a:custGeom>
            <a:avLst/>
            <a:gdLst/>
            <a:ahLst/>
            <a:cxnLst/>
            <a:rect r="r" b="b" t="t" l="l"/>
            <a:pathLst>
              <a:path h="8200214" w="8130819">
                <a:moveTo>
                  <a:pt x="0" y="0"/>
                </a:moveTo>
                <a:lnTo>
                  <a:pt x="8130819" y="0"/>
                </a:lnTo>
                <a:lnTo>
                  <a:pt x="8130819" y="8200214"/>
                </a:lnTo>
                <a:lnTo>
                  <a:pt x="0" y="82002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aphicFrame>
        <p:nvGraphicFramePr>
          <p:cNvPr name="Object 4" id="4"/>
          <p:cNvGraphicFramePr/>
          <p:nvPr/>
        </p:nvGraphicFramePr>
        <p:xfrm>
          <a:off x="3149333" y="2355462"/>
          <a:ext cx="3771900" cy="2514600"/>
        </p:xfrm>
        <a:graphic>
          <a:graphicData uri="http://schemas.openxmlformats.org/presentationml/2006/ole">
            <p:oleObj imgW="4521200" imgH="32639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8700" y="806269"/>
            <a:ext cx="8855925" cy="941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871"/>
              </a:lnSpc>
            </a:pPr>
            <a:r>
              <a:rPr lang="en-US" sz="7468">
                <a:solidFill>
                  <a:srgbClr val="000000"/>
                </a:solidFill>
                <a:latin typeface="Egyptian Slate"/>
                <a:ea typeface="Egyptian Slate"/>
                <a:cs typeface="Egyptian Slate"/>
                <a:sym typeface="Egyptian Slate"/>
              </a:rPr>
              <a:t>Hasil Evaluasi Model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5400000">
            <a:off x="-6122025" y="389538"/>
            <a:ext cx="6701850" cy="8286676"/>
          </a:xfrm>
          <a:custGeom>
            <a:avLst/>
            <a:gdLst/>
            <a:ahLst/>
            <a:cxnLst/>
            <a:rect r="r" b="b" t="t" l="l"/>
            <a:pathLst>
              <a:path h="8286676" w="6701850">
                <a:moveTo>
                  <a:pt x="0" y="0"/>
                </a:moveTo>
                <a:lnTo>
                  <a:pt x="6701850" y="0"/>
                </a:lnTo>
                <a:lnTo>
                  <a:pt x="6701850" y="8286676"/>
                </a:lnTo>
                <a:lnTo>
                  <a:pt x="0" y="82866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aphicFrame>
        <p:nvGraphicFramePr>
          <p:cNvPr name="Object 7" id="7"/>
          <p:cNvGraphicFramePr/>
          <p:nvPr/>
        </p:nvGraphicFramePr>
        <p:xfrm>
          <a:off x="3149333" y="6738890"/>
          <a:ext cx="11315700" cy="1885950"/>
        </p:xfrm>
        <a:graphic>
          <a:graphicData uri="http://schemas.openxmlformats.org/presentationml/2006/ole">
            <p:oleObj imgW="13576300" imgH="41529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3149333" y="6068516"/>
            <a:ext cx="6011387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Perbandingan Aktual vs Prediksi (Data Testing):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4107788" y="-533638"/>
            <a:ext cx="6112246" cy="7045817"/>
          </a:xfrm>
          <a:custGeom>
            <a:avLst/>
            <a:gdLst/>
            <a:ahLst/>
            <a:cxnLst/>
            <a:rect r="r" b="b" t="t" l="l"/>
            <a:pathLst>
              <a:path h="7045817" w="6112246">
                <a:moveTo>
                  <a:pt x="0" y="0"/>
                </a:moveTo>
                <a:lnTo>
                  <a:pt x="6112246" y="0"/>
                </a:lnTo>
                <a:lnTo>
                  <a:pt x="6112246" y="7045817"/>
                </a:lnTo>
                <a:lnTo>
                  <a:pt x="0" y="70458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4203177" y="4173530"/>
            <a:ext cx="6112246" cy="7045817"/>
          </a:xfrm>
          <a:custGeom>
            <a:avLst/>
            <a:gdLst/>
            <a:ahLst/>
            <a:cxnLst/>
            <a:rect r="r" b="b" t="t" l="l"/>
            <a:pathLst>
              <a:path h="7045817" w="6112246">
                <a:moveTo>
                  <a:pt x="0" y="0"/>
                </a:moveTo>
                <a:lnTo>
                  <a:pt x="6112246" y="0"/>
                </a:lnTo>
                <a:lnTo>
                  <a:pt x="6112246" y="7045817"/>
                </a:lnTo>
                <a:lnTo>
                  <a:pt x="0" y="70458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65707" y="818480"/>
            <a:ext cx="13893706" cy="933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94"/>
              </a:lnSpc>
            </a:pPr>
            <a:r>
              <a:rPr lang="en-US" sz="7494">
                <a:solidFill>
                  <a:srgbClr val="000000"/>
                </a:solidFill>
                <a:latin typeface="Egyptian Slate"/>
                <a:ea typeface="Egyptian Slate"/>
                <a:cs typeface="Egyptian Slate"/>
                <a:sym typeface="Egyptian Slate"/>
              </a:rPr>
              <a:t>Prediksi Produksi 2026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59524" y="651007"/>
            <a:ext cx="13208573" cy="825466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471244" y="7936610"/>
            <a:ext cx="11596138" cy="2170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8039" indent="-284020" lvl="1">
              <a:lnSpc>
                <a:spcPts val="4367"/>
              </a:lnSpc>
              <a:buFont typeface="Arial"/>
              <a:buChar char="•"/>
            </a:pPr>
            <a:r>
              <a:rPr lang="en-US" sz="263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Puncak produksi diprediksi terjadi di Q4 2026</a:t>
            </a:r>
          </a:p>
          <a:p>
            <a:pPr algn="just" marL="568039" indent="-284020" lvl="1">
              <a:lnSpc>
                <a:spcPts val="4367"/>
              </a:lnSpc>
              <a:buFont typeface="Arial"/>
              <a:buChar char="•"/>
            </a:pPr>
            <a:r>
              <a:rPr lang="en-US" sz="263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Pola Q4 sebagai puncak konsisten dengan data historis</a:t>
            </a:r>
          </a:p>
          <a:p>
            <a:pPr algn="just" marL="568039" indent="-284020" lvl="1">
              <a:lnSpc>
                <a:spcPts val="4367"/>
              </a:lnSpc>
              <a:buFont typeface="Arial"/>
              <a:buChar char="•"/>
            </a:pPr>
            <a:r>
              <a:rPr lang="en-US" sz="263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Prediksi produksi tahun 2026 mengalami kenaikan dibandingkan tahun 2025.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30756" y="0"/>
            <a:ext cx="5223801" cy="5305853"/>
            <a:chOff x="0" y="0"/>
            <a:chExt cx="1375816" cy="13974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75816" cy="1397426"/>
            </a:xfrm>
            <a:custGeom>
              <a:avLst/>
              <a:gdLst/>
              <a:ahLst/>
              <a:cxnLst/>
              <a:rect r="r" b="b" t="t" l="l"/>
              <a:pathLst>
                <a:path h="1397426" w="1375816">
                  <a:moveTo>
                    <a:pt x="0" y="0"/>
                  </a:moveTo>
                  <a:lnTo>
                    <a:pt x="1375816" y="0"/>
                  </a:lnTo>
                  <a:lnTo>
                    <a:pt x="1375816" y="1397426"/>
                  </a:lnTo>
                  <a:lnTo>
                    <a:pt x="0" y="1397426"/>
                  </a:lnTo>
                  <a:close/>
                </a:path>
              </a:pathLst>
            </a:custGeom>
            <a:solidFill>
              <a:srgbClr val="BEEF7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75816" cy="1435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5601417" cy="10287000"/>
            <a:chOff x="0" y="0"/>
            <a:chExt cx="1475270" cy="27093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75270" cy="2709333"/>
            </a:xfrm>
            <a:custGeom>
              <a:avLst/>
              <a:gdLst/>
              <a:ahLst/>
              <a:cxnLst/>
              <a:rect r="r" b="b" t="t" l="l"/>
              <a:pathLst>
                <a:path h="2709333" w="1475270">
                  <a:moveTo>
                    <a:pt x="0" y="0"/>
                  </a:moveTo>
                  <a:lnTo>
                    <a:pt x="1475270" y="0"/>
                  </a:lnTo>
                  <a:lnTo>
                    <a:pt x="147527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C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7527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271460" y="1635400"/>
            <a:ext cx="8552990" cy="8552990"/>
          </a:xfrm>
          <a:custGeom>
            <a:avLst/>
            <a:gdLst/>
            <a:ahLst/>
            <a:cxnLst/>
            <a:rect r="r" b="b" t="t" l="l"/>
            <a:pathLst>
              <a:path h="8552990" w="8552990">
                <a:moveTo>
                  <a:pt x="0" y="0"/>
                </a:moveTo>
                <a:lnTo>
                  <a:pt x="8552990" y="0"/>
                </a:lnTo>
                <a:lnTo>
                  <a:pt x="8552990" y="8552990"/>
                </a:lnTo>
                <a:lnTo>
                  <a:pt x="0" y="85529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271460" y="1635400"/>
            <a:ext cx="6945507" cy="7340907"/>
            <a:chOff x="0" y="0"/>
            <a:chExt cx="1829269" cy="19334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9269" cy="1933408"/>
            </a:xfrm>
            <a:custGeom>
              <a:avLst/>
              <a:gdLst/>
              <a:ahLst/>
              <a:cxnLst/>
              <a:rect r="r" b="b" t="t" l="l"/>
              <a:pathLst>
                <a:path h="1933408" w="1829269">
                  <a:moveTo>
                    <a:pt x="0" y="0"/>
                  </a:moveTo>
                  <a:lnTo>
                    <a:pt x="1829269" y="0"/>
                  </a:lnTo>
                  <a:lnTo>
                    <a:pt x="1829269" y="1933408"/>
                  </a:lnTo>
                  <a:lnTo>
                    <a:pt x="0" y="19334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829269" cy="1971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33070" y="1878136"/>
            <a:ext cx="6422286" cy="6855435"/>
            <a:chOff x="0" y="0"/>
            <a:chExt cx="950936" cy="10150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0936" cy="1015072"/>
            </a:xfrm>
            <a:custGeom>
              <a:avLst/>
              <a:gdLst/>
              <a:ahLst/>
              <a:cxnLst/>
              <a:rect r="r" b="b" t="t" l="l"/>
              <a:pathLst>
                <a:path h="1015072" w="950936">
                  <a:moveTo>
                    <a:pt x="0" y="0"/>
                  </a:moveTo>
                  <a:lnTo>
                    <a:pt x="950936" y="0"/>
                  </a:lnTo>
                  <a:lnTo>
                    <a:pt x="950936" y="1015072"/>
                  </a:lnTo>
                  <a:lnTo>
                    <a:pt x="0" y="1015072"/>
                  </a:lnTo>
                  <a:close/>
                </a:path>
              </a:pathLst>
            </a:custGeom>
            <a:blipFill>
              <a:blip r:embed="rId5"/>
              <a:stretch>
                <a:fillRect l="0" t="-33272" r="0" b="-33272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1382638" y="8844338"/>
            <a:ext cx="7315200" cy="2286000"/>
          </a:xfrm>
          <a:custGeom>
            <a:avLst/>
            <a:gdLst/>
            <a:ahLst/>
            <a:cxnLst/>
            <a:rect r="r" b="b" t="t" l="l"/>
            <a:pathLst>
              <a:path h="2286000" w="7315200">
                <a:moveTo>
                  <a:pt x="0" y="0"/>
                </a:moveTo>
                <a:lnTo>
                  <a:pt x="7315200" y="0"/>
                </a:lnTo>
                <a:lnTo>
                  <a:pt x="73152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6" id="16"/>
          <p:cNvGrpSpPr/>
          <p:nvPr/>
        </p:nvGrpSpPr>
        <p:grpSpPr>
          <a:xfrm rot="0">
            <a:off x="-2463438" y="6833176"/>
            <a:ext cx="4343758" cy="3800789"/>
            <a:chOff x="0" y="0"/>
            <a:chExt cx="812800" cy="711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8E8E8">
                <a:alpha val="11765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true" flipV="true" rot="-1103927">
            <a:off x="17259009" y="-856405"/>
            <a:ext cx="1905130" cy="3006123"/>
          </a:xfrm>
          <a:custGeom>
            <a:avLst/>
            <a:gdLst/>
            <a:ahLst/>
            <a:cxnLst/>
            <a:rect r="r" b="b" t="t" l="l"/>
            <a:pathLst>
              <a:path h="3006123" w="1905130">
                <a:moveTo>
                  <a:pt x="1905130" y="3006123"/>
                </a:moveTo>
                <a:lnTo>
                  <a:pt x="0" y="3006123"/>
                </a:lnTo>
                <a:lnTo>
                  <a:pt x="0" y="0"/>
                </a:lnTo>
                <a:lnTo>
                  <a:pt x="1905130" y="0"/>
                </a:lnTo>
                <a:lnTo>
                  <a:pt x="1905130" y="3006123"/>
                </a:lnTo>
                <a:close/>
              </a:path>
            </a:pathLst>
          </a:custGeom>
          <a:blipFill>
            <a:blip r:embed="rId8">
              <a:alphaModFix amt="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7604882" y="-233541"/>
            <a:ext cx="683118" cy="467082"/>
          </a:xfrm>
          <a:custGeom>
            <a:avLst/>
            <a:gdLst/>
            <a:ahLst/>
            <a:cxnLst/>
            <a:rect r="r" b="b" t="t" l="l"/>
            <a:pathLst>
              <a:path h="467082" w="683118">
                <a:moveTo>
                  <a:pt x="0" y="0"/>
                </a:moveTo>
                <a:lnTo>
                  <a:pt x="683118" y="0"/>
                </a:lnTo>
                <a:lnTo>
                  <a:pt x="683118" y="467082"/>
                </a:lnTo>
                <a:lnTo>
                  <a:pt x="0" y="4670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3619551">
            <a:off x="-2107978" y="-2676513"/>
            <a:ext cx="4568600" cy="3437871"/>
          </a:xfrm>
          <a:custGeom>
            <a:avLst/>
            <a:gdLst/>
            <a:ahLst/>
            <a:cxnLst/>
            <a:rect r="r" b="b" t="t" l="l"/>
            <a:pathLst>
              <a:path h="3437871" w="4568600">
                <a:moveTo>
                  <a:pt x="0" y="0"/>
                </a:moveTo>
                <a:lnTo>
                  <a:pt x="4568600" y="0"/>
                </a:lnTo>
                <a:lnTo>
                  <a:pt x="4568600" y="3437872"/>
                </a:lnTo>
                <a:lnTo>
                  <a:pt x="0" y="34378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6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2" id="22"/>
          <p:cNvSpPr txBox="true"/>
          <p:nvPr/>
        </p:nvSpPr>
        <p:spPr>
          <a:xfrm rot="0">
            <a:off x="9144000" y="4396162"/>
            <a:ext cx="7508316" cy="4011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581"/>
              </a:lnSpc>
            </a:pPr>
            <a:r>
              <a:rPr lang="en-US" sz="2558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Penelitian ini membuktikan bahwa regresi linear berganda dengan rekayasa fitur mampu memprediksi produksi durian </a:t>
            </a:r>
            <a:r>
              <a:rPr lang="en-US" sz="2558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secara akurat (R² = 91,72%) meskipun hanya tersedia 10 titik data. Total produksi 2026 diprediksi sebesar 402,03 kuintal dengan puncak di Q4, dan hasilnya dapat langsung dimanfaatkan petani untuk perencanaan produksi yang lebih terstruktur.</a:t>
            </a:r>
          </a:p>
          <a:p>
            <a:pPr algn="just" marL="0" indent="0" lvl="0">
              <a:lnSpc>
                <a:spcPts val="3581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1219792" y="2592618"/>
            <a:ext cx="5432524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590"/>
              </a:lnSpc>
            </a:pPr>
            <a:r>
              <a:rPr lang="en-US" sz="8250">
                <a:solidFill>
                  <a:srgbClr val="FFFFFF"/>
                </a:solidFill>
                <a:latin typeface="Egyptian Slate"/>
                <a:ea typeface="Egyptian Slate"/>
                <a:cs typeface="Egyptian Slate"/>
                <a:sym typeface="Egyptian Slate"/>
              </a:rPr>
              <a:t>Kesimpulan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DAHHknB47GA</dc:identifier>
  <dcterms:modified xsi:type="dcterms:W3CDTF">2011-08-01T06:04:30Z</dcterms:modified>
  <cp:revision>1</cp:revision>
  <dc:title>Presentasi musang king</dc:title>
</cp:coreProperties>
</file>