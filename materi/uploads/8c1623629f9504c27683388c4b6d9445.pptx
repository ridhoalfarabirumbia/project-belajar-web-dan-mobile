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  <p:sldId id="280" r:id="rId26"/>
    <p:sldId id="281" r:id="rId27"/>
    <p:sldId id="282" r:id="rId28"/>
    <p:sldId id="283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84" r:id="rId38"/>
    <p:sldId id="295" r:id="rId39"/>
    <p:sldId id="296" r:id="rId40"/>
    <p:sldId id="294" r:id="rId41"/>
    <p:sldId id="285" r:id="rId4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A69"/>
    <a:srgbClr val="0530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-955" y="-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153146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98113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16407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400471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411755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87627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40518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427933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15869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66921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91761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F2337-4475-4531-B885-CF30763156C1}" type="datetimeFigureOut">
              <a:rPr lang="id-ID" smtClean="0"/>
              <a:pPr/>
              <a:t>07/08/2025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9FF6-9782-41A0-8921-D5DCF30F1BE5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426434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44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5364"/>
            <a:ext cx="9144000" cy="2387600"/>
          </a:xfrm>
          <a:noFill/>
        </p:spPr>
        <p:txBody>
          <a:bodyPr>
            <a:noAutofit/>
          </a:bodyPr>
          <a:lstStyle/>
          <a:p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Mata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Pelajaran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Koding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Kecerdasan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Artifisial</a:t>
            </a:r>
            <a:r>
              <a:rPr lang="id-ID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/>
            </a:r>
            <a:br>
              <a:rPr lang="id-ID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</a:b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pada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6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Kurikulum</a:t>
            </a:r>
            <a:r>
              <a:rPr lang="en-US" sz="46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Nasional</a:t>
            </a:r>
            <a:endParaRPr lang="id-ID" sz="46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15152"/>
            <a:ext cx="9144000" cy="8792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Bimbingan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Teknis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Guru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Koding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dan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Kecerdasan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Artifisial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 Black" panose="020B0A04020102020204" pitchFamily="34" charset="0"/>
              </a:rPr>
              <a:t>Jenjang</a:t>
            </a:r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 SMA/SMK</a:t>
            </a:r>
          </a:p>
          <a:p>
            <a:pPr>
              <a:lnSpc>
                <a:spcPct val="110000"/>
              </a:lnSpc>
            </a:pPr>
            <a:endParaRPr lang="en-US" sz="18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89143" y="145144"/>
            <a:ext cx="2753820" cy="27538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22501" y="2941638"/>
            <a:ext cx="2330797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574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15998"/>
            <a:ext cx="5254171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575A69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5374"/>
            <a:ext cx="10515600" cy="1037545"/>
          </a:xfrm>
        </p:spPr>
        <p:txBody>
          <a:bodyPr>
            <a:normAutofit/>
          </a:bodyPr>
          <a:lstStyle/>
          <a:p>
            <a:r>
              <a:rPr lang="en-GB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GB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Fasilitator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814" y="1825625"/>
            <a:ext cx="9916886" cy="4351338"/>
          </a:xfrm>
        </p:spPr>
        <p:txBody>
          <a:bodyPr/>
          <a:lstStyle/>
          <a:p>
            <a:r>
              <a:rPr lang="en-GB" dirty="0" err="1" smtClean="0"/>
              <a:t>Nama</a:t>
            </a:r>
            <a:r>
              <a:rPr lang="en-GB" dirty="0" smtClean="0"/>
              <a:t>	:  </a:t>
            </a:r>
            <a:r>
              <a:rPr lang="en-GB" b="1" dirty="0" smtClean="0"/>
              <a:t>Dr. Ir. Muhammad </a:t>
            </a:r>
            <a:r>
              <a:rPr lang="en-GB" b="1" dirty="0" err="1" smtClean="0"/>
              <a:t>Ridha</a:t>
            </a:r>
            <a:r>
              <a:rPr lang="en-GB" b="1" dirty="0" smtClean="0"/>
              <a:t> </a:t>
            </a:r>
            <a:r>
              <a:rPr lang="en-GB" b="1" dirty="0" err="1" smtClean="0"/>
              <a:t>Albaar.,S.Kom</a:t>
            </a:r>
            <a:r>
              <a:rPr lang="en-GB" b="1" dirty="0" smtClean="0"/>
              <a:t>., </a:t>
            </a:r>
            <a:r>
              <a:rPr lang="en-GB" b="1" dirty="0" err="1" smtClean="0"/>
              <a:t>M.Kom</a:t>
            </a:r>
            <a:endParaRPr lang="en-GB" b="1" dirty="0" smtClean="0"/>
          </a:p>
          <a:p>
            <a:r>
              <a:rPr lang="en-GB" dirty="0" err="1" smtClean="0"/>
              <a:t>Institusi</a:t>
            </a:r>
            <a:r>
              <a:rPr lang="en-GB" dirty="0" smtClean="0"/>
              <a:t>	:  </a:t>
            </a:r>
            <a:r>
              <a:rPr lang="en-GB" dirty="0" err="1" smtClean="0"/>
              <a:t>Universitas</a:t>
            </a:r>
            <a:r>
              <a:rPr lang="en-GB" dirty="0" smtClean="0"/>
              <a:t> </a:t>
            </a:r>
            <a:r>
              <a:rPr lang="en-GB" dirty="0" err="1" smtClean="0"/>
              <a:t>Khairun</a:t>
            </a:r>
            <a:endParaRPr lang="en-GB" dirty="0" smtClean="0"/>
          </a:p>
          <a:p>
            <a:r>
              <a:rPr lang="en-GB" dirty="0" err="1" smtClean="0"/>
              <a:t>Nama</a:t>
            </a:r>
            <a:r>
              <a:rPr lang="en-GB" dirty="0" smtClean="0"/>
              <a:t>	:  </a:t>
            </a:r>
            <a:r>
              <a:rPr lang="en-GB" b="1" dirty="0" smtClean="0"/>
              <a:t>Ir. Abdul Mubarak, </a:t>
            </a:r>
            <a:r>
              <a:rPr lang="en-GB" b="1" dirty="0" err="1" smtClean="0"/>
              <a:t>S.Kom.,MT.,IPM</a:t>
            </a:r>
            <a:endParaRPr lang="en-GB" b="1" dirty="0" smtClean="0"/>
          </a:p>
          <a:p>
            <a:r>
              <a:rPr lang="en-GB" dirty="0" err="1" smtClean="0"/>
              <a:t>Institusi</a:t>
            </a:r>
            <a:r>
              <a:rPr lang="en-GB" dirty="0" smtClean="0"/>
              <a:t>	:  </a:t>
            </a:r>
            <a:r>
              <a:rPr lang="en-GB" dirty="0" err="1" smtClean="0"/>
              <a:t>Universitas</a:t>
            </a:r>
            <a:r>
              <a:rPr lang="en-GB" dirty="0" smtClean="0"/>
              <a:t> </a:t>
            </a:r>
            <a:r>
              <a:rPr lang="en-GB" dirty="0" err="1" smtClean="0"/>
              <a:t>Khairun</a:t>
            </a:r>
            <a:endParaRPr lang="en-GB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98748" y="319033"/>
            <a:ext cx="993984" cy="4969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58398" y="260719"/>
            <a:ext cx="567593" cy="578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77949" y="260719"/>
            <a:ext cx="603448" cy="603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92732" y="347060"/>
            <a:ext cx="937136" cy="4689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52827" y="254471"/>
            <a:ext cx="608373" cy="6197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8316" y="777811"/>
            <a:ext cx="3567965" cy="608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381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19349"/>
            <a:ext cx="10515600" cy="32242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Pengantar</a:t>
            </a:r>
            <a:r>
              <a:rPr lang="en-US" sz="5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Mapel</a:t>
            </a:r>
            <a:r>
              <a:rPr lang="en-US" sz="5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Koding</a:t>
            </a:r>
            <a:r>
              <a:rPr lang="en-US" sz="5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en-US" sz="5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Kecerdasan</a:t>
            </a:r>
            <a:r>
              <a:rPr lang="en-US" sz="5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50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Artifisial</a:t>
            </a:r>
            <a:endParaRPr lang="id-ID" sz="50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9455" y="3903711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282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749425"/>
            <a:ext cx="8382000" cy="4351338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Indonesia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berfokus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kompetitif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Undang-Undang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No. 59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2024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Pembangunan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Jangka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Panjang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Nasional (RPJPN).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dianggap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era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Revolusi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Industri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4.0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5.0, di mana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Internet of Things 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luas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Indonesia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mengambil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langkah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strategis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mengintegrasikan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mengikuti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jejak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negara-negara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sukses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Project-Based Learning (PBL)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diterapkan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mendorong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diharapkan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mencetak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kompetitif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siap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menghadapi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tantangan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industri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masa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</a:pPr>
            <a:endParaRPr lang="id-ID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673098"/>
            <a:ext cx="4597400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5424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Pendahuluan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56700" y="2418369"/>
            <a:ext cx="2764719" cy="36823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411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749425"/>
            <a:ext cx="8382000" cy="4351338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Diperlukan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adaptasi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perubahan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Kurikulum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kurikulum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berfokus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diharapkan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inovator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mengatasi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Pemerataan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Program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Prioritas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Kemendikdasmen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menekankan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guru,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khusus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Transformasi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Digital,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kesempatan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bakat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bidang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memastikan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siap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menghadapi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tantangan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masa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673098"/>
            <a:ext cx="4013200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5424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Poin</a:t>
            </a:r>
            <a:r>
              <a:rPr lang="en-US" sz="3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Kunci</a:t>
            </a:r>
            <a:r>
              <a:rPr lang="en-US" sz="3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73611" y="1749425"/>
            <a:ext cx="3140766" cy="40266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9564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455" y="2570761"/>
            <a:ext cx="10515600" cy="2327275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Rasional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,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Tujuan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,</a:t>
            </a:r>
            <a:r>
              <a:rPr lang="id-ID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/>
            </a:r>
            <a:br>
              <a:rPr lang="id-ID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</a:b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Karakteristik</a:t>
            </a:r>
            <a:r>
              <a:rPr lang="id-ID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/>
            </a:r>
            <a:br>
              <a:rPr lang="id-ID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</a:b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Elemen</a:t>
            </a:r>
            <a:endParaRPr lang="id-ID" sz="48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8134" y="1841151"/>
            <a:ext cx="3829665" cy="484313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01961" y="2346908"/>
            <a:ext cx="2110903" cy="237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459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2125"/>
            <a:ext cx="86868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Integrasi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di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memaksimalkan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pembangunan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nasional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abad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ke-21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kreatif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pemecahan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global.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Keahlian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menciptakan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peluang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ekonomi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mendukung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industri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memperkuat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pemerataan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berkualitas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mendukung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penguatan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identitas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nasional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budaya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mempelajari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holistik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kreatif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mandiri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mengintegrasikan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generasi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mendatang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diharapkan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menghadapi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tantangan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berkontribusi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kesejahteraan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ekonomi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Indonesia.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50260"/>
            <a:ext cx="7001881" cy="1029759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530CA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38200" y="555174"/>
            <a:ext cx="10515600" cy="10375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Rasional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Mapel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Koding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484116">
            <a:off x="9491782" y="2015581"/>
            <a:ext cx="2659689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059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4700" y="1749425"/>
            <a:ext cx="8382000" cy="435133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bertujuan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memampukan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terampil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menciptakan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persoalan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logis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sistematis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analitis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cakap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bijak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warga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produktif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beretika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aman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berbudaya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bertanggungjawab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terampil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mengelola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memanfaatkan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data;</a:t>
            </a:r>
          </a:p>
          <a:p>
            <a:pPr algn="just">
              <a:lnSpc>
                <a:spcPct val="120000"/>
              </a:lnSpc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terampil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berkarya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rancangan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program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pemanfaatan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32892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5424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Tujuan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51994" y="2624703"/>
            <a:ext cx="4318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936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4700" y="1749425"/>
            <a:ext cx="83820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karakteristik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berikut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Menanamkan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keadaban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fondasi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penguasaan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kontekstual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situasi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dihadapi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sehari-hari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permasalahan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sekitar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dilaksanakan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internet-based,   plugged,  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unplugged.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human-centered di mana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pemanfaatan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KA. 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Menekankan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penguasaan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pra-dasar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SD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bekal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SMP.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Praktik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SMP.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Praktik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lanjut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SMA/SMK.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45211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530CA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5424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Karakteristik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42600" y="2453254"/>
            <a:ext cx="3325391" cy="364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330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4700" y="1749425"/>
            <a:ext cx="8382000" cy="4351338"/>
          </a:xfrm>
        </p:spPr>
        <p:txBody>
          <a:bodyPr>
            <a:noAutofit/>
          </a:bodyPr>
          <a:lstStyle/>
          <a:p>
            <a:r>
              <a:rPr lang="en-US" sz="2400" dirty="0" err="1" smtClean="0">
                <a:latin typeface="Arial Black" panose="020B0A04020102020204" pitchFamily="34" charset="0"/>
              </a:rPr>
              <a:t>Berpikir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Komputasional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Literasi</a:t>
            </a:r>
            <a:r>
              <a:rPr lang="en-US" sz="2400" dirty="0" smtClean="0">
                <a:latin typeface="Arial Black" panose="020B0A04020102020204" pitchFamily="34" charset="0"/>
              </a:rPr>
              <a:t> Digital</a:t>
            </a: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Literasi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dan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Etika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Kecerdasan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Artifisial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Pemanfaatan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dan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Pengembangan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Kecerdasan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Artifisial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Algoritma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latin typeface="Arial Black" panose="020B0A04020102020204" pitchFamily="34" charset="0"/>
              </a:rPr>
              <a:t>Pemrograman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err="1" smtClean="0">
                <a:latin typeface="Arial Black" panose="020B0A04020102020204" pitchFamily="34" charset="0"/>
              </a:rPr>
              <a:t>Analisis</a:t>
            </a:r>
            <a:r>
              <a:rPr lang="en-US" sz="2400" dirty="0" smtClean="0">
                <a:latin typeface="Arial Black" panose="020B0A04020102020204" pitchFamily="34" charset="0"/>
              </a:rPr>
              <a:t> Data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60197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5424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Elemen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Koding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KA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00008" y="1328883"/>
            <a:ext cx="4973583" cy="519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43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60400" y="1749425"/>
            <a:ext cx="7086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KKA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kontribusi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KKA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mandiri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berkomunikasi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berkolaborasi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Hal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warga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yang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warga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dunia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77596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529774"/>
            <a:ext cx="10515600" cy="1037545"/>
          </a:xfrm>
        </p:spPr>
        <p:txBody>
          <a:bodyPr>
            <a:normAutofit/>
          </a:bodyPr>
          <a:lstStyle/>
          <a:p>
            <a:r>
              <a:rPr lang="it-IT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KKA dan Dimensi Profil Lulusan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Content Placeholder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04435" y="1536700"/>
            <a:ext cx="4345761" cy="421506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271883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982060"/>
            <a:ext cx="7142551" cy="98644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530CA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9615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Posisi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Mapel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KKA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dengan</a:t>
            </a:r>
            <a:r>
              <a:rPr lang="id-ID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Mapel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Informatika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74340" y="1627447"/>
            <a:ext cx="4318000" cy="431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60400" y="2308225"/>
            <a:ext cx="82042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Informatika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dimulai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7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12,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penekanan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pilihan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11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12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tambahan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elemen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id-ID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12,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menawarkan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(KKA). </a:t>
            </a:r>
          </a:p>
          <a:p>
            <a:pPr algn="just"/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Informatika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KKA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dikelola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mencegah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tumpang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tindih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praktis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279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82600" y="1934368"/>
            <a:ext cx="82042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SD,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Informatika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KKA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diselenggarakan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terpisah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menghindari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berulang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7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10,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khususnya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Digital.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11-12,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diambil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diperhatikan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elemen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saling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berulang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KKA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dirancang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membangun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praktis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eksplorasi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" y="673098"/>
            <a:ext cx="41401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9600" y="5297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Poin Kunci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57737" y="1143232"/>
            <a:ext cx="2906514" cy="495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00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72455" y="2265694"/>
            <a:ext cx="10515600" cy="2327275"/>
          </a:xfrm>
        </p:spPr>
        <p:txBody>
          <a:bodyPr>
            <a:normAutofit/>
          </a:bodyPr>
          <a:lstStyle/>
          <a:p>
            <a:pPr algn="ctr"/>
            <a:r>
              <a:rPr lang="nn-NO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Konsep Keilmuan Koding dan Kecerdasan Artifisial serta Implementasinya</a:t>
            </a:r>
            <a:endParaRPr lang="id-ID" sz="48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524000" y="4683635"/>
            <a:ext cx="9144000" cy="563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i-FI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Keilmuan Koding dan Kecerdasan Artifisial</a:t>
            </a:r>
          </a:p>
          <a:p>
            <a:pPr algn="ctr"/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6311" y="3694343"/>
            <a:ext cx="2118295" cy="31057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982611" y="3794647"/>
            <a:ext cx="1857416" cy="31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863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4500" y="1749425"/>
            <a:ext cx="7086600" cy="4351338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mengubah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ide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instruksi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dimengerti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luas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mencakup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siklus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perencanaan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desain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pemeliharaan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logika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kreatif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plugged coding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unplugged coding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internet-based coding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platform daring.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7305207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297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Koding</a:t>
            </a:r>
            <a:r>
              <a:rPr lang="en-US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r>
              <a:rPr lang="en-US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Pemrograman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Content Placeholder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7667" y="2284908"/>
            <a:ext cx="4319029" cy="242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139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4500" y="1749425"/>
            <a:ext cx="7086600" cy="4351338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bidang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ilmu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berupaya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biasanya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ahli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definisi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berbeda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mencerminkan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perspektif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masing-masing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potensi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bidang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industri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mencakup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pengolahan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efisien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mencakup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data,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praktis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berkontribusi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pembangunan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berkelanjutan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62483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297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en-US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4" name="Content Placeholder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8007" y="1633174"/>
            <a:ext cx="4346825" cy="37249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xmlns="" val="26287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400" y="1685925"/>
            <a:ext cx="10121900" cy="4351338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Definisi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KA: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diartikan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belajar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menyelesaikan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Ada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bertindak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dicapai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agen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bertindak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rasional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Sejarah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KA: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dimulai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pertengahan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abad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ke-20,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"Turing Test"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Alan Turing.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Konferensi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Dartmouth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1956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istilah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."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Perkembangan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KA: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Setelah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mengalami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kemajuan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1950-an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1970-an,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mengalami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1980-an,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bangkit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2000-an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berkat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KA: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dibedakan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sempit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terfokus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umum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luas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kapasitasnya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machine learning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deep learning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sering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KA. </a:t>
            </a:r>
          </a:p>
          <a:p>
            <a:pPr algn="just"/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Implikasi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berfokus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teknis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tetapi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menghormati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muncul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penerapannya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privasi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ketidakadilan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3492499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297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Poin Kunci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87194" y="2436357"/>
            <a:ext cx="1524892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7530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972455" y="1897394"/>
            <a:ext cx="10515600" cy="23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Elemen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dalam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Koding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Kecerdasan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Artifisial</a:t>
            </a:r>
            <a:endParaRPr lang="id-ID" sz="48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23576" y="3790642"/>
            <a:ext cx="3067358" cy="306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916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953000" y="2168525"/>
            <a:ext cx="6959600" cy="4351338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Decomposition (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Dekomposisi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Pemecahan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 algn="just">
              <a:buNone/>
            </a:pP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Memecah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kompleks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masalah-masalah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dikelola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Pattern Recognition (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 algn="just">
              <a:buNone/>
            </a:pP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Mengidentifikasi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pola-pola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menemukan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efektif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Abstraction (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Abstraksi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 algn="just">
              <a:buNone/>
            </a:pP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Memfokuskan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relevan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mengabaikan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detail yang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menyederhanakan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Algorithmic Thinking (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Algoritmik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 algn="just">
              <a:buNone/>
            </a:pP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Merancang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langkah-langkah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sistematis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menyelesaikan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673098"/>
            <a:ext cx="6784507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297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6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Berpikir</a:t>
            </a:r>
            <a:r>
              <a:rPr lang="en-US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Komputasional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Content Placeholder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94" y="2245748"/>
            <a:ext cx="4871806" cy="305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918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33900" y="2151521"/>
            <a:ext cx="6705600" cy="3910460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bijak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id-ID" sz="2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agar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cerdas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dunia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digital.</a:t>
            </a:r>
          </a:p>
          <a:p>
            <a:pPr algn="just"/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673098"/>
            <a:ext cx="4780582" cy="711200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297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Literasi Digital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27000" y="1219200"/>
            <a:ext cx="4780747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91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1524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73400" y="1988774"/>
            <a:ext cx="8684697" cy="4180028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TIK: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arsitektur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jaringan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buatan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statistik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Media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Mengetahui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media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termasuk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privasi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mengidentifikasi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palsu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mengevaluasi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keandalan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internet. </a:t>
            </a:r>
          </a:p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pengaruh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673098"/>
            <a:ext cx="5956298" cy="960076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Hal-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hal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yang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Mendukung</a:t>
            </a:r>
            <a:r>
              <a:rPr lang="id-ID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Literasi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Digital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41299" y="2151522"/>
            <a:ext cx="33655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4050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73400" y="2230074"/>
            <a:ext cx="8684697" cy="4180028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kerjanya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penerapannya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kehidupan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sehari-hari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id-ID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Mempelajari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warga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bijak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dilatih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mengevaluasi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bijaksana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interdisipliner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mempersiapkan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kontributor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positif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masa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673098"/>
            <a:ext cx="5956298" cy="960076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Literasi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Etika</a:t>
            </a:r>
            <a:r>
              <a:rPr lang="id-ID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2003829"/>
            <a:ext cx="3190296" cy="409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60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52900" y="1988774"/>
            <a:ext cx="7605197" cy="4180028"/>
          </a:xfrm>
        </p:spPr>
        <p:txBody>
          <a:bodyPr>
            <a:noAutofit/>
          </a:bodyPr>
          <a:lstStyle/>
          <a:p>
            <a:pPr marL="363538" indent="-363538" algn="just">
              <a:buFont typeface="+mj-lt"/>
              <a:buAutoNum type="arabicPeriod"/>
            </a:pPr>
            <a:r>
              <a:rPr lang="en-US" b="1" dirty="0" err="1" smtClean="0">
                <a:solidFill>
                  <a:srgbClr val="575A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Lanskap</a:t>
            </a:r>
            <a:r>
              <a:rPr lang="en-US" b="1" dirty="0" smtClean="0">
                <a:solidFill>
                  <a:srgbClr val="575A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</a:p>
          <a:p>
            <a:pPr lvl="1"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Machine Learning: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belajar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prediksi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Deep Learning: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machine learning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jaringan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buatan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menganalisis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KA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Generatif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Subkategori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deep learning yang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810544"/>
            <a:ext cx="7305206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530CA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Literasi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4" name="Content Placeholder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3700" y="1988774"/>
            <a:ext cx="3505504" cy="31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994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8800" y="1988774"/>
            <a:ext cx="11199297" cy="4180028"/>
          </a:xfrm>
        </p:spPr>
        <p:txBody>
          <a:bodyPr>
            <a:noAutofit/>
          </a:bodyPr>
          <a:lstStyle/>
          <a:p>
            <a:pPr marL="444500" indent="-444500">
              <a:buFont typeface="+mj-lt"/>
              <a:buAutoNum type="arabicPeriod" startAt="2"/>
            </a:pP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Materi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untuk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Siswa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Tingkat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Dasar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</a:p>
          <a:p>
            <a:pPr lvl="1"/>
            <a:r>
              <a:rPr lang="en-US" b="1" dirty="0" err="1" smtClean="0">
                <a:latin typeface="Arial "/>
              </a:rPr>
              <a:t>Siswa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harus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memahami</a:t>
            </a:r>
            <a:r>
              <a:rPr lang="en-US" b="1" dirty="0" smtClean="0">
                <a:latin typeface="Arial "/>
              </a:rPr>
              <a:t> KA </a:t>
            </a:r>
            <a:r>
              <a:rPr lang="en-US" b="1" dirty="0" err="1" smtClean="0">
                <a:latin typeface="Arial "/>
              </a:rPr>
              <a:t>sebagai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sistem</a:t>
            </a:r>
            <a:r>
              <a:rPr lang="en-US" b="1" dirty="0" smtClean="0">
                <a:latin typeface="Arial "/>
              </a:rPr>
              <a:t> yang </a:t>
            </a:r>
            <a:r>
              <a:rPr lang="en-US" b="1" dirty="0" err="1" smtClean="0">
                <a:latin typeface="Arial "/>
              </a:rPr>
              <a:t>meniru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kemampuan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manusia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dalam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belajar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dan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mengambil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keputusan</a:t>
            </a:r>
            <a:r>
              <a:rPr lang="en-US" b="1" dirty="0" smtClean="0">
                <a:latin typeface="Arial "/>
              </a:rPr>
              <a:t>. </a:t>
            </a:r>
          </a:p>
          <a:p>
            <a:pPr lvl="1"/>
            <a:r>
              <a:rPr lang="en-US" b="1" dirty="0" err="1" smtClean="0">
                <a:latin typeface="Arial "/>
              </a:rPr>
              <a:t>Contoh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penggunaan</a:t>
            </a:r>
            <a:r>
              <a:rPr lang="en-US" b="1" dirty="0" smtClean="0">
                <a:latin typeface="Arial "/>
              </a:rPr>
              <a:t> KA </a:t>
            </a:r>
            <a:r>
              <a:rPr lang="en-US" b="1" dirty="0" err="1" smtClean="0">
                <a:latin typeface="Arial "/>
              </a:rPr>
              <a:t>meliputi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asisten</a:t>
            </a:r>
            <a:r>
              <a:rPr lang="en-US" b="1" dirty="0" smtClean="0">
                <a:latin typeface="Arial "/>
              </a:rPr>
              <a:t> virtual </a:t>
            </a:r>
            <a:r>
              <a:rPr lang="en-US" b="1" dirty="0" err="1" smtClean="0">
                <a:latin typeface="Arial "/>
              </a:rPr>
              <a:t>dan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sistem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rekomendasi</a:t>
            </a:r>
            <a:r>
              <a:rPr lang="en-US" b="1" dirty="0" smtClean="0">
                <a:latin typeface="Arial "/>
              </a:rPr>
              <a:t>. </a:t>
            </a:r>
          </a:p>
          <a:p>
            <a:pPr marL="444500" indent="-444500">
              <a:buFont typeface="+mj-lt"/>
              <a:buAutoNum type="arabicPeriod" startAt="2"/>
            </a:pP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Materi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untuk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Siswa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Tingkat </a:t>
            </a:r>
            <a:r>
              <a:rPr lang="en-US" b="1" dirty="0" err="1" smtClean="0">
                <a:solidFill>
                  <a:srgbClr val="575A69"/>
                </a:solidFill>
                <a:latin typeface="Arial "/>
              </a:rPr>
              <a:t>Menengah</a:t>
            </a:r>
            <a:r>
              <a:rPr lang="en-US" b="1" dirty="0" smtClean="0">
                <a:solidFill>
                  <a:srgbClr val="575A69"/>
                </a:solidFill>
                <a:latin typeface="Arial "/>
              </a:rPr>
              <a:t> </a:t>
            </a:r>
          </a:p>
          <a:p>
            <a:pPr lvl="1"/>
            <a:r>
              <a:rPr lang="en-US" b="1" dirty="0" err="1" smtClean="0">
                <a:latin typeface="Arial "/>
              </a:rPr>
              <a:t>Memperkenalkan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konsep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etika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lebih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kompleks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dan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teknik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pembelajaran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mesin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lanjutan</a:t>
            </a:r>
            <a:r>
              <a:rPr lang="en-US" b="1" dirty="0" smtClean="0">
                <a:latin typeface="Arial "/>
              </a:rPr>
              <a:t>. </a:t>
            </a:r>
          </a:p>
          <a:p>
            <a:pPr lvl="1"/>
            <a:r>
              <a:rPr lang="en-US" b="1" dirty="0" err="1" smtClean="0">
                <a:latin typeface="Arial "/>
              </a:rPr>
              <a:t>Siswa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juga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perlu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memahami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potensi</a:t>
            </a:r>
            <a:r>
              <a:rPr lang="en-US" b="1" dirty="0" smtClean="0">
                <a:latin typeface="Arial "/>
              </a:rPr>
              <a:t> bias, </a:t>
            </a:r>
            <a:r>
              <a:rPr lang="en-US" b="1" dirty="0" err="1" smtClean="0">
                <a:latin typeface="Arial "/>
              </a:rPr>
              <a:t>privasi</a:t>
            </a:r>
            <a:r>
              <a:rPr lang="en-US" b="1" dirty="0" smtClean="0">
                <a:latin typeface="Arial "/>
              </a:rPr>
              <a:t>, </a:t>
            </a:r>
            <a:r>
              <a:rPr lang="en-US" b="1" dirty="0" err="1" smtClean="0">
                <a:latin typeface="Arial "/>
              </a:rPr>
              <a:t>dan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dampak</a:t>
            </a:r>
            <a:r>
              <a:rPr lang="en-US" b="1" dirty="0" smtClean="0">
                <a:latin typeface="Arial "/>
              </a:rPr>
              <a:t> </a:t>
            </a:r>
            <a:r>
              <a:rPr lang="en-US" b="1" dirty="0" err="1" smtClean="0">
                <a:latin typeface="Arial "/>
              </a:rPr>
              <a:t>sosial</a:t>
            </a:r>
            <a:r>
              <a:rPr lang="en-US" b="1" dirty="0" smtClean="0">
                <a:latin typeface="Arial "/>
              </a:rPr>
              <a:t> KA.</a:t>
            </a:r>
            <a:endParaRPr lang="en-US" b="1" dirty="0">
              <a:latin typeface="Arial 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810544"/>
            <a:ext cx="7305206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Literasi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993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616200" y="1917760"/>
            <a:ext cx="8684697" cy="4180028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sikap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era digital.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pemanfaatan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dipahami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Bias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Ketidakadilan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menyadari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terpengaruh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bias data,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adil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Privasi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perlunya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melindungi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pribadi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online.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Tanggung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Akuntabilitas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menyadari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tanggung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dampaknya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Keterbukaan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Transparansi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pentingnya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keterbukaan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kepercayaan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publik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Cipta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Kesadaran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cipta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terutama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generatif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agar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melanggar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cipta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673098"/>
            <a:ext cx="7778490" cy="960076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Etika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Pemanfaatan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id-ID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Artifisial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untuk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Peserta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Didik</a:t>
            </a:r>
            <a:r>
              <a:rPr lang="en-US" sz="3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4001" y="2557412"/>
            <a:ext cx="2762090" cy="36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212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851491" y="2468894"/>
            <a:ext cx="10515600" cy="23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Pemanfaatan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Pengembangan</a:t>
            </a:r>
            <a:endParaRPr lang="id-ID" sz="4800" dirty="0" smtClean="0">
              <a:solidFill>
                <a:srgbClr val="575A69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Kecerdasan</a:t>
            </a:r>
            <a:r>
              <a:rPr lang="en-US" sz="48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Artifisial</a:t>
            </a:r>
            <a:endParaRPr lang="id-ID" sz="48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81056" y="3126424"/>
            <a:ext cx="2414549" cy="373157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2026870"/>
            <a:ext cx="3146378" cy="314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156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24508" y="2001474"/>
            <a:ext cx="7384792" cy="4180028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dibagi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sederhana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permainan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edukatif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Hal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bertujuan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menumbuhkan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menyebabkan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ketergantungan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diajarkan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kompleks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proyek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asisten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virtual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mengedepankan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KA. 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pendekatan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pedagogis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proyek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partisipasi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pemecahan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711199"/>
            <a:ext cx="7778490" cy="919619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Pemanfaatan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Pengembangan</a:t>
            </a:r>
            <a:r>
              <a:rPr lang="id-ID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id-ID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Buatan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di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Sekolah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Dasar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id-ID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&amp;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Menengah</a:t>
            </a:r>
            <a:r>
              <a:rPr lang="en-U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id-ID" sz="22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03579" y="1990502"/>
            <a:ext cx="382088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2604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014975" y="1760174"/>
            <a:ext cx="9733498" cy="4180028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(KA)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diperkenalkan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pengalaman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belajar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meliputi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mentranskripsikan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ucapan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perintah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Google Assistant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Siri.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penerjemahan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pencatatan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mengenali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wajah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bermanfaat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bidang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kendaraan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otonom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menganalisis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citra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Data: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membantu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menganalisis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menemukan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sulit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dilihat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memahami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konsumen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rekomendasi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 platform digital. </a:t>
            </a:r>
          </a:p>
          <a:p>
            <a:pPr lvl="1" algn="just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Generatif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tulisan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musik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mendukung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proyek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kreatif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teknis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pemanfaatan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generatif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disertai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pemahaman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etika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aman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bertanggung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jawab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demikian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KA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potensi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711199"/>
            <a:ext cx="7778490" cy="919619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Pemanfaatan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Kecerdasan</a:t>
            </a:r>
            <a:r>
              <a:rPr lang="id-ID" sz="25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25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Buatan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dalam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Pendidikan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id-ID" sz="2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5725" y="2836374"/>
            <a:ext cx="2117013" cy="310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840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" y="711199"/>
            <a:ext cx="7306731" cy="919619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Pemanfaatan</a:t>
            </a:r>
            <a:r>
              <a:rPr lang="en-US" sz="25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Teknologi</a:t>
            </a:r>
            <a:r>
              <a:rPr lang="en-US" sz="25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Kecerdasan</a:t>
            </a:r>
            <a:r>
              <a:rPr lang="id-ID" sz="2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id-ID" sz="2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Buatan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dalam</a:t>
            </a:r>
            <a:r>
              <a:rPr lang="en-US" sz="25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Pendidikan</a:t>
            </a:r>
            <a:r>
              <a:rPr lang="en-US" sz="25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endParaRPr lang="id-ID" sz="2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Content Placeholder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06805" y="1562101"/>
            <a:ext cx="7321485" cy="4935222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393700" y="2125428"/>
            <a:ext cx="3721100" cy="22650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menengah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lanjut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didorong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memecahkan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rekayasa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memanfaatkan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library KA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eksplorasi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Machine Learning. </a:t>
            </a:r>
          </a:p>
        </p:txBody>
      </p:sp>
    </p:spTree>
    <p:extLst>
      <p:ext uri="{BB962C8B-B14F-4D97-AF65-F5344CB8AC3E}">
        <p14:creationId xmlns:p14="http://schemas.microsoft.com/office/powerpoint/2010/main" xmlns="" val="196212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972455" y="2265694"/>
            <a:ext cx="10515600" cy="2327275"/>
          </a:xfrm>
        </p:spPr>
        <p:txBody>
          <a:bodyPr>
            <a:normAutofit/>
          </a:bodyPr>
          <a:lstStyle/>
          <a:p>
            <a:pPr algn="ctr"/>
            <a:r>
              <a:rPr lang="en-GB" sz="7200" dirty="0" err="1">
                <a:solidFill>
                  <a:srgbClr val="575A69"/>
                </a:solidFill>
                <a:latin typeface="Arial Black" panose="020B0A04020102020204" pitchFamily="34" charset="0"/>
              </a:rPr>
              <a:t>Algoritma</a:t>
            </a:r>
            <a:r>
              <a:rPr lang="en-GB" sz="7200" dirty="0">
                <a:solidFill>
                  <a:srgbClr val="575A69"/>
                </a:solidFill>
                <a:latin typeface="Arial Black" panose="020B0A04020102020204" pitchFamily="34" charset="0"/>
              </a:rPr>
              <a:t> </a:t>
            </a:r>
            <a:r>
              <a:rPr lang="en-GB" sz="72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dan</a:t>
            </a:r>
            <a:r>
              <a:rPr lang="id-ID" sz="72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/>
            </a:r>
            <a:br>
              <a:rPr lang="id-ID" sz="7200" dirty="0" smtClean="0">
                <a:solidFill>
                  <a:srgbClr val="575A69"/>
                </a:solidFill>
                <a:latin typeface="Arial Black" panose="020B0A04020102020204" pitchFamily="34" charset="0"/>
              </a:rPr>
            </a:br>
            <a:r>
              <a:rPr lang="en-GB" sz="7200" dirty="0" err="1" smtClean="0">
                <a:solidFill>
                  <a:srgbClr val="575A69"/>
                </a:solidFill>
                <a:latin typeface="Arial Black" panose="020B0A04020102020204" pitchFamily="34" charset="0"/>
              </a:rPr>
              <a:t>Pemrograman</a:t>
            </a:r>
            <a:endParaRPr lang="id-ID" sz="72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7411" y="3340772"/>
            <a:ext cx="2220689" cy="310570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982611" y="3429331"/>
            <a:ext cx="1857416" cy="31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492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" y="739825"/>
            <a:ext cx="3125288" cy="695276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678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Definisi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393700" y="1554619"/>
            <a:ext cx="7962900" cy="4858881"/>
          </a:xfrm>
        </p:spPr>
        <p:txBody>
          <a:bodyPr>
            <a:noAutofit/>
          </a:bodyPr>
          <a:lstStyle/>
          <a:p>
            <a:pPr algn="just"/>
            <a:r>
              <a:rPr lang="en-GB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Menurut</a:t>
            </a: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 KBBI</a:t>
            </a:r>
          </a:p>
          <a:p>
            <a:pPr lvl="1"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Program: </a:t>
            </a:r>
          </a:p>
          <a:p>
            <a:pPr lvl="2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rangkaian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perintah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diberikan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2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sistematis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menyelesaikan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matematis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langkah-langkah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terbatas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urutan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logis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menyelesaikan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proses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sampai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menciptakan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program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(software).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programmer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aturan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Bahasa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dipilih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benar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dijalankan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54436" y="1709374"/>
            <a:ext cx="3299262" cy="42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81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" y="605974"/>
            <a:ext cx="6273797" cy="986745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678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Kategori</a:t>
            </a:r>
            <a:r>
              <a:rPr lang="en-US" sz="2500" dirty="0">
                <a:solidFill>
                  <a:schemeClr val="bg1"/>
                </a:solidFill>
                <a:latin typeface="Arial Black" panose="020B0A04020102020204" pitchFamily="34" charset="0"/>
              </a:rPr>
              <a:t> Bahasa </a:t>
            </a: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Pemrograman</a:t>
            </a:r>
            <a:r>
              <a:rPr lang="id-ID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id-ID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5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Berdasarkan</a:t>
            </a:r>
            <a:r>
              <a:rPr lang="en-U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Tingkatannya</a:t>
            </a:r>
            <a:endParaRPr lang="id-ID" sz="2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393700" y="1709374"/>
            <a:ext cx="7962900" cy="4704126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Bahasa </a:t>
            </a:r>
            <a:r>
              <a:rPr lang="en-US" sz="1800" dirty="0" err="1">
                <a:latin typeface="Arial Black" panose="020B0A04020102020204" pitchFamily="34" charset="0"/>
                <a:cs typeface="Arial" panose="020B0604020202020204" pitchFamily="34" charset="0"/>
              </a:rPr>
              <a:t>Mesin</a:t>
            </a:r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angka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biner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(0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1)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sulit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dibaca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Bahasa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tergantung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mesin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mesin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lain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sulit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dimodifikasi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Bahasa Assembly: 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dibaca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daripada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mesin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diganti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simbol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dimengerti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Bahasa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tergantung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mesin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portable.</a:t>
            </a:r>
          </a:p>
          <a:p>
            <a:pPr algn="just"/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Bahasa Tingkat Tinggi: 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dipahami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kata-kata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strukturnya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mendekati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Bahasa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sehari-hari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72968" y="1277967"/>
            <a:ext cx="48514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1167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" y="761999"/>
            <a:ext cx="7130410" cy="698501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678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Pemrosesan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 Bahasa Program</a:t>
            </a:r>
            <a:endParaRPr lang="id-ID" sz="3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393700" y="1709374"/>
            <a:ext cx="7962900" cy="4704126"/>
          </a:xfrm>
        </p:spPr>
        <p:txBody>
          <a:bodyPr>
            <a:noAutofit/>
          </a:bodyPr>
          <a:lstStyle/>
          <a:p>
            <a:r>
              <a:rPr lang="en-US" sz="1800" dirty="0" err="1">
                <a:latin typeface="Arial Black" panose="020B0A04020102020204" pitchFamily="34" charset="0"/>
                <a:cs typeface="Arial" panose="020B0604020202020204" pitchFamily="34" charset="0"/>
              </a:rPr>
              <a:t>Kompiler</a:t>
            </a:r>
            <a:endParaRPr lang="en-US" sz="18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menerjemahkan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Bahasa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objektif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dijalankan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Interpreter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menjalankan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mengkompilasinya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dahulu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penerjemah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segera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menerjemahkan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ucapan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lain.</a:t>
            </a:r>
          </a:p>
          <a:p>
            <a:r>
              <a:rPr lang="en-US" sz="1800" dirty="0">
                <a:latin typeface="Arial Black" panose="020B0A04020102020204" pitchFamily="34" charset="0"/>
                <a:cs typeface="Arial" panose="020B0604020202020204" pitchFamily="34" charset="0"/>
              </a:rPr>
              <a:t>IDE (Integrated Development Environment)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menyediakan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alat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lengkap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termasuk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editor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alat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otomatisasi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pembuatan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debugger.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IDE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pengembang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efisien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71808" y="1264874"/>
            <a:ext cx="4120192" cy="466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831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" y="761999"/>
            <a:ext cx="3403598" cy="698501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5678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Flowchart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393700" y="1709374"/>
            <a:ext cx="7962900" cy="470412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Flowchart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menggambarkan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langkah-langkah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alur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visual. </a:t>
            </a:r>
          </a:p>
          <a:p>
            <a:pPr algn="just">
              <a:lnSpc>
                <a:spcPct val="100000"/>
              </a:lnSpc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, flowchart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bagaimana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program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Flowchart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simbol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grafis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menggambarkan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(proses),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aliran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pengulangan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Flowchart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juga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bisnis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menjelaskan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langkah-langkah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99492" y="1380836"/>
            <a:ext cx="2650565" cy="409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2286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" y="596899"/>
            <a:ext cx="5245098" cy="698501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402774"/>
            <a:ext cx="10515600" cy="1037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Contoh </a:t>
            </a:r>
            <a:r>
              <a:rPr lang="en-GB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Flowchart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0546" y="1295400"/>
            <a:ext cx="4864954" cy="51231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0" y="1495216"/>
            <a:ext cx="3763781" cy="4825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4766" y="1423409"/>
            <a:ext cx="3079287" cy="52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6547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838791" y="2112232"/>
            <a:ext cx="10515600" cy="3339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A</a:t>
            </a:r>
            <a:r>
              <a:rPr lang="id-ID" sz="8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nalisis</a:t>
            </a:r>
          </a:p>
          <a:p>
            <a:pPr algn="ctr"/>
            <a:r>
              <a:rPr lang="id-ID" sz="8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Data</a:t>
            </a:r>
            <a:endParaRPr lang="id-ID" sz="80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015832" y="1514019"/>
            <a:ext cx="6858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44755" y="4103912"/>
            <a:ext cx="3510646" cy="21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977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3700" y="1861774"/>
            <a:ext cx="7543800" cy="4180028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Kata "data"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berasal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Latin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jamak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sedangkan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tunggalnya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"datum." 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 Indonesia, kata "data"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biasanya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merujuk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kumpulan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data. 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 era digital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data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hadir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format,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angka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teks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video.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simbol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mewakili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kumpulan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fakta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mentah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makna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diolah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sz="2000" b="1" dirty="0">
                <a:latin typeface="Arial" panose="020B0604020202020204" pitchFamily="34" charset="0"/>
                <a:cs typeface="Arial" panose="020B0604020202020204" pitchFamily="34" charset="0"/>
              </a:rPr>
              <a:t>bermakna karena ada hubungan antar data.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810544"/>
            <a:ext cx="5626098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dan</a:t>
            </a: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Informasi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53086" y="1803460"/>
            <a:ext cx="2748224" cy="396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841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3700" y="1823674"/>
            <a:ext cx="7543800" cy="418002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1. </a:t>
            </a:r>
            <a:r>
              <a:rPr lang="en-US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Deskriptif</a:t>
            </a: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deskriptif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bersifat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deskripsi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menggambarkan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en-US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Diagnostik</a:t>
            </a: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diagnostik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penyebab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terjadinya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berdasar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GB" sz="2000" dirty="0">
                <a:latin typeface="Arial Black" panose="020B0A04020102020204" pitchFamily="34" charset="0"/>
                <a:cs typeface="Arial" panose="020B0604020202020204" pitchFamily="34" charset="0"/>
              </a:rPr>
              <a:t>3. </a:t>
            </a:r>
            <a:r>
              <a:rPr lang="en-GB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Prediktif</a:t>
            </a:r>
            <a:r>
              <a:rPr lang="en-GB" sz="2000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prediktif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memprediksi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meramalkan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di masa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mendatang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berdasar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historis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(data masa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lalu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4. </a:t>
            </a:r>
            <a:r>
              <a:rPr lang="en-US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Preskriptif</a:t>
            </a: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preskriptif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langkah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optimal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memanfaatkan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mempertimbangkan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faktor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810544"/>
            <a:ext cx="6210298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Kategori</a:t>
            </a: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Analisis</a:t>
            </a: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 Data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55279" y="1982792"/>
            <a:ext cx="2529953" cy="423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553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3700" y="1823674"/>
            <a:ext cx="5295900" cy="4180028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dihasilkan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pengolahan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input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berikutnya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797844"/>
            <a:ext cx="6527798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31374"/>
            <a:ext cx="10515600" cy="1037545"/>
          </a:xfrm>
        </p:spPr>
        <p:txBody>
          <a:bodyPr>
            <a:normAutofit/>
          </a:bodyPr>
          <a:lstStyle/>
          <a:p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Siklus</a:t>
            </a: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GB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Pengolahan</a:t>
            </a:r>
            <a:r>
              <a:rPr lang="en-GB" sz="3500" dirty="0">
                <a:solidFill>
                  <a:schemeClr val="bg1"/>
                </a:solidFill>
                <a:latin typeface="Arial Black" panose="020B0A04020102020204" pitchFamily="34" charset="0"/>
              </a:rPr>
              <a:t> Data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3015" y="1481751"/>
            <a:ext cx="5903397" cy="49735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221380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3700" y="1803460"/>
            <a:ext cx="11442700" cy="4180028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Modul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bertujuan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koding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diharapkan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menguasai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berpikir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komputasional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literasi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kecerdasan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artifisial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merancang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HOTS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TPACK.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" y="810544"/>
            <a:ext cx="3047998" cy="689198"/>
          </a:xfrm>
          <a:prstGeom prst="rect">
            <a:avLst/>
          </a:prstGeom>
          <a:solidFill>
            <a:srgbClr val="57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93700" y="644074"/>
            <a:ext cx="10515600" cy="1037545"/>
          </a:xfrm>
        </p:spPr>
        <p:txBody>
          <a:bodyPr>
            <a:normAutofit/>
          </a:bodyPr>
          <a:lstStyle/>
          <a:p>
            <a:r>
              <a:rPr lang="id-ID" sz="3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Penutup</a:t>
            </a:r>
            <a:endParaRPr lang="id-ID" sz="35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7548" y="522233"/>
            <a:ext cx="993984" cy="4969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198" y="463919"/>
            <a:ext cx="567593" cy="578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46749" y="463919"/>
            <a:ext cx="603448" cy="60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61532" y="550260"/>
            <a:ext cx="937136" cy="4689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21627" y="457671"/>
            <a:ext cx="608373" cy="6197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4553" y="3378911"/>
            <a:ext cx="2470277" cy="32902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708875">
            <a:off x="2756093" y="4516570"/>
            <a:ext cx="2861177" cy="191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56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4" y="-1"/>
            <a:ext cx="12190815" cy="6858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4606" y="1063002"/>
            <a:ext cx="1804070" cy="90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168" y="935651"/>
            <a:ext cx="1030174" cy="1049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3631" y="931617"/>
            <a:ext cx="1095253" cy="1095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0206" y="931617"/>
            <a:ext cx="1088549" cy="110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8676" y="1134791"/>
            <a:ext cx="1515629" cy="75845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838791" y="2350483"/>
            <a:ext cx="10515600" cy="1484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T</a:t>
            </a:r>
            <a:r>
              <a:rPr lang="id-ID" sz="8000" dirty="0" smtClean="0">
                <a:solidFill>
                  <a:srgbClr val="575A69"/>
                </a:solidFill>
                <a:latin typeface="Arial Black" panose="020B0A04020102020204" pitchFamily="34" charset="0"/>
              </a:rPr>
              <a:t>erima Kasih</a:t>
            </a:r>
            <a:endParaRPr lang="id-ID" sz="8000" dirty="0">
              <a:solidFill>
                <a:srgbClr val="575A69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524000" y="3778014"/>
            <a:ext cx="9144000" cy="1860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ROBOTIC EXPLORER</a:t>
            </a:r>
          </a:p>
          <a:p>
            <a:pPr marL="0" indent="0" algn="ctr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worldofroboticexplorer.com</a:t>
            </a:r>
          </a:p>
          <a:p>
            <a:pPr marL="0" indent="0" algn="ctr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Green Ville Blok AL 1-1A,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Kebon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Jeruk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Jakarta</a:t>
            </a:r>
          </a:p>
          <a:p>
            <a:pPr marL="0" indent="0" algn="ctr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021-56943504 / 0822-8922-8922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78868" y="2889526"/>
            <a:ext cx="2194327" cy="37393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60483" y="3028040"/>
            <a:ext cx="3114809" cy="341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197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189</TotalTime>
  <Words>2702</Words>
  <Application>Microsoft Office PowerPoint</Application>
  <PresentationFormat>Custom</PresentationFormat>
  <Paragraphs>212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Mata Pelajaran Koding dan Kecerdasan Artifisial pada Kurikulum Nasional</vt:lpstr>
      <vt:lpstr>Data Fasilitator</vt:lpstr>
      <vt:lpstr>Slide 3</vt:lpstr>
      <vt:lpstr>Pendahuluan</vt:lpstr>
      <vt:lpstr>Poin Kunci </vt:lpstr>
      <vt:lpstr>Rasional, Tujuan, Karakteristik dan Elemen</vt:lpstr>
      <vt:lpstr>Slide 7</vt:lpstr>
      <vt:lpstr>Tujuan</vt:lpstr>
      <vt:lpstr>Karakteristik</vt:lpstr>
      <vt:lpstr>Elemen Koding dan KA</vt:lpstr>
      <vt:lpstr>KKA dan Dimensi Profil Lulusan</vt:lpstr>
      <vt:lpstr>Posisi Mapel KKA dengan Mapel Informatika</vt:lpstr>
      <vt:lpstr>Poin Kunci</vt:lpstr>
      <vt:lpstr>Konsep Keilmuan Koding dan Kecerdasan Artifisial serta Implementasinya</vt:lpstr>
      <vt:lpstr>Koding dan Pemrograman</vt:lpstr>
      <vt:lpstr>Kecerdasan Artifisial</vt:lpstr>
      <vt:lpstr>Poin Kunci</vt:lpstr>
      <vt:lpstr>Slide 18</vt:lpstr>
      <vt:lpstr>Berpikir Komputasional</vt:lpstr>
      <vt:lpstr>Literasi Digital</vt:lpstr>
      <vt:lpstr>Hal-hal yang Mendukung Literasi Digital</vt:lpstr>
      <vt:lpstr>Literasi dan Etika Kecerdasan Artifisial</vt:lpstr>
      <vt:lpstr>Literasi Kecerdasan Artifisial</vt:lpstr>
      <vt:lpstr>Literasi Kecerdasan Artifisial</vt:lpstr>
      <vt:lpstr>Etika Pemanfaatan Kecerdasan Artifisial untuk Peserta Didik </vt:lpstr>
      <vt:lpstr>Slide 26</vt:lpstr>
      <vt:lpstr>Pemanfaatan dan Pengembangan Kecerdasan Buatan di Sekolah Dasar &amp; Menengah </vt:lpstr>
      <vt:lpstr>Pemanfaatan Teknologi Kecerdasan Buatan dalam Pendidikan </vt:lpstr>
      <vt:lpstr>Pemanfaatan Teknologi Kecerdasan Buatan dalam Pendidikan </vt:lpstr>
      <vt:lpstr>Algoritma dan Pemrograman</vt:lpstr>
      <vt:lpstr>Definisi</vt:lpstr>
      <vt:lpstr>Kategori Bahasa Pemrograman Berdasarkan Tingkatannya</vt:lpstr>
      <vt:lpstr>Pemrosesan Bahasa Program</vt:lpstr>
      <vt:lpstr>Flowchart</vt:lpstr>
      <vt:lpstr>Contoh Flowchart</vt:lpstr>
      <vt:lpstr>Slide 36</vt:lpstr>
      <vt:lpstr>Data dan Informasi</vt:lpstr>
      <vt:lpstr>Kategori Analisis Data</vt:lpstr>
      <vt:lpstr>Siklus Pengolahan Data</vt:lpstr>
      <vt:lpstr>Penutup</vt:lpstr>
      <vt:lpstr>Slide 41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Mata Pelajaran Koding dan Kecerdasan Artifisial pada Kurikulum Nasional</dc:title>
  <dc:creator>winer</dc:creator>
  <cp:lastModifiedBy>user</cp:lastModifiedBy>
  <cp:revision>35</cp:revision>
  <dcterms:created xsi:type="dcterms:W3CDTF">2025-07-02T05:09:33Z</dcterms:created>
  <dcterms:modified xsi:type="dcterms:W3CDTF">2025-08-06T23:10:54Z</dcterms:modified>
</cp:coreProperties>
</file>